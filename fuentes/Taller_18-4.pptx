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68"/>
  </p:normalViewPr>
  <p:slideViewPr>
    <p:cSldViewPr snapToGrid="0">
      <p:cViewPr varScale="1">
        <p:scale>
          <a:sx n="101" d="100"/>
          <a:sy n="101" d="100"/>
        </p:scale>
        <p:origin x="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578F89-E0D1-8E4A-E990-F7D340206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B94196-773D-B683-3DE7-5F98CE4BA8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4F606B0-A0EA-6AF8-8335-E1E1B5C9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E0CF-E225-9F4C-B261-F6AD0C16A593}" type="datetimeFigureOut">
              <a:rPr lang="es-AR" smtClean="0"/>
              <a:t>18/4/26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E26825-9A0F-CDD4-F730-80D0707D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193673-12D8-2B4E-026D-93F35C96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3E91-C215-B649-8A4C-040467D541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61797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F7D45C-129A-A6C6-DDD7-0F6D41C7E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D95A60-9717-D776-CC0C-881934A4C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9E65FA-C2DF-E09B-778A-3E55C8D6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E0CF-E225-9F4C-B261-F6AD0C16A593}" type="datetimeFigureOut">
              <a:rPr lang="es-AR" smtClean="0"/>
              <a:t>18/4/26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503979-33F6-3229-EA8A-A2E6C814C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5B7C84-08E2-2B9B-863B-9F679518C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3E91-C215-B649-8A4C-040467D541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213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6D7390-D44F-CF0E-2075-3AD771691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245F2-FF82-F54A-D8B5-525FD25E1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CA0569-740D-97D8-DC56-3BC6CCD79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E0CF-E225-9F4C-B261-F6AD0C16A593}" type="datetimeFigureOut">
              <a:rPr lang="es-AR" smtClean="0"/>
              <a:t>18/4/26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C71B4D-8A8B-538E-9852-6940DF161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030B89-5AD8-79A4-E73B-DC4AC2D93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3E91-C215-B649-8A4C-040467D541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1879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CF0A9-F8C6-DB72-2B38-AE5892419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D67E9B-C48D-EC47-FAB2-08185E6D45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25FB13-855D-2C8A-3312-54BDA618CE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38B3E33-8B2C-D8C3-6C85-87F6A6984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E0CF-E225-9F4C-B261-F6AD0C16A593}" type="datetimeFigureOut">
              <a:rPr lang="es-AR" smtClean="0"/>
              <a:t>18/4/26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C5C98F-0476-BB1A-A312-E9299F162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3DBA69-2984-223D-F83A-0415FE897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3E91-C215-B649-8A4C-040467D541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14055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BD1E36-8E48-8368-DD9D-FB1C0A38D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35F62C-2CF0-FC69-46A5-B2D2430DA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0C30B06-A2F6-41F5-7DCF-BAAD6F0AF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D2B2F1C-1B81-FEC6-5E28-D0D367AFD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4CBF5F8-9485-9F1E-4D71-90119FFC8D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92F3520-E08C-AEA8-7E40-B82C65253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E0CF-E225-9F4C-B261-F6AD0C16A593}" type="datetimeFigureOut">
              <a:rPr lang="es-AR" smtClean="0"/>
              <a:t>18/4/26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4F5D091-1517-0A10-25F8-371A32D91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CA7DBE4-A73F-4DAB-4F31-3FFF8F397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3E91-C215-B649-8A4C-040467D541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22734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4D4D97-00E0-7EA1-57C8-6D6B99E4C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C01C241-B97A-CF5B-A4D2-3BBB80323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E0CF-E225-9F4C-B261-F6AD0C16A593}" type="datetimeFigureOut">
              <a:rPr lang="es-AR" smtClean="0"/>
              <a:t>18/4/26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40D6EA3-E912-803E-5516-F7E61E59D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239530-D505-797D-B2CD-53E86C83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3E91-C215-B649-8A4C-040467D541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39161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C07ADB-8FB7-1DE8-A5C9-49E15743B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E0CF-E225-9F4C-B261-F6AD0C16A593}" type="datetimeFigureOut">
              <a:rPr lang="es-AR" smtClean="0"/>
              <a:t>18/4/26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3A35E9-EC30-2375-CD0D-743278DD7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4FD78E-2A21-A568-0925-B7E9D5F48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3E91-C215-B649-8A4C-040467D541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5409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A39D9F-5E00-B230-A572-79389EBE8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9D65AF-7450-EE55-89D7-598E9501D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D8D0DE-13DF-0491-96AC-46985E11F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3CBE79-90D5-75DA-5E2C-4E5120BBC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E0CF-E225-9F4C-B261-F6AD0C16A593}" type="datetimeFigureOut">
              <a:rPr lang="es-AR" smtClean="0"/>
              <a:t>18/4/26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9EE41B-D8DB-0F31-9399-2DF5CC27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3E3306-8AE7-E934-19F7-E2924EA8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3E91-C215-B649-8A4C-040467D541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74954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1B70B7-ECE8-6758-E85C-F43E0F0D4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0E7FE75-EBBF-0077-6C5E-10771BA154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60DDAD-4AAF-2B1F-C855-84BD7A5BD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BCDD42-9E09-D3E6-C626-1DB3B93FA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E0CF-E225-9F4C-B261-F6AD0C16A593}" type="datetimeFigureOut">
              <a:rPr lang="es-AR" smtClean="0"/>
              <a:t>18/4/26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54C0CD-32CE-3125-65A8-BBE68D14B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85D89C-E694-CA84-D19A-96E0D6BCF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3E91-C215-B649-8A4C-040467D541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68065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FBB88C-FCED-80F3-06B9-E9CFC29B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6FB8643-36ED-AEBA-7A36-5F474ADB3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BE02F6-724F-B7A9-0A6E-BB116203B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E0CF-E225-9F4C-B261-F6AD0C16A593}" type="datetimeFigureOut">
              <a:rPr lang="es-AR" smtClean="0"/>
              <a:t>18/4/26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E7CDD5-9CF2-CCE2-6AAA-44604E468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D22BD3-786C-8618-3762-A370AF56D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3E91-C215-B649-8A4C-040467D541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2476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B5B2C7-07C9-101C-6822-B57C15C4C8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9440029-87AA-27B0-2ACC-7BBA6260C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078E81-C35A-344D-5E3F-20CC151F7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DE0CF-E225-9F4C-B261-F6AD0C16A593}" type="datetimeFigureOut">
              <a:rPr lang="es-AR" smtClean="0"/>
              <a:t>18/4/26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4B7664-AE23-EDA9-9A87-749131CDA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B05B50-D298-0F2F-D74C-10C36D3FC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C3E91-C215-B649-8A4C-040467D541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58995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4F8D15-4240-2ABF-E94E-0DAFBB291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4C986CD-6739-B5B7-8821-D188CB68A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AAB467-EF16-A63D-31DD-4E57B49F85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3DE0CF-E225-9F4C-B261-F6AD0C16A593}" type="datetimeFigureOut">
              <a:rPr lang="es-AR" smtClean="0"/>
              <a:t>18/4/26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EDDEAE-2BE6-FA9F-A32E-0169C76A9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F5DC21-7B1D-FC85-512A-0DC73DF10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4C3E91-C215-B649-8A4C-040467D5419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76060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15CC78F-9D2B-4FF0-9F4A-5E1BC6FB4220}"/>
              </a:ext>
            </a:extLst>
          </p:cNvPr>
          <p:cNvSpPr/>
          <p:nvPr/>
        </p:nvSpPr>
        <p:spPr>
          <a:xfrm>
            <a:off x="1982144" y="2069237"/>
            <a:ext cx="822771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540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Plantas medicinales para el estrés y el descanso</a:t>
            </a:r>
            <a:endParaRPr lang="es-MX" sz="5400" b="0" cap="none" spc="0" dirty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E132171-47DC-A6EF-0FA8-58D1FE4BC3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677"/>
          <a:stretch/>
        </p:blipFill>
        <p:spPr>
          <a:xfrm>
            <a:off x="0" y="4444680"/>
            <a:ext cx="2000034" cy="228198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6A90C9B-B4FA-C992-2F43-7C587BB34315}"/>
              </a:ext>
            </a:extLst>
          </p:cNvPr>
          <p:cNvSpPr txBox="1"/>
          <p:nvPr/>
        </p:nvSpPr>
        <p:spPr>
          <a:xfrm>
            <a:off x="3761866" y="4576020"/>
            <a:ext cx="4668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</a:rPr>
              <a:t>Ayelén Florencia Crespi-Mburucuyá hierbas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1B0E426-79E5-9527-8FF0-E7BEF19D6616}"/>
              </a:ext>
            </a:extLst>
          </p:cNvPr>
          <p:cNvSpPr txBox="1"/>
          <p:nvPr/>
        </p:nvSpPr>
        <p:spPr>
          <a:xfrm>
            <a:off x="10032434" y="6094968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>
                <a:latin typeface="Arial" panose="020B0604020202020204" pitchFamily="34" charset="0"/>
                <a:cs typeface="Arial" panose="020B0604020202020204" pitchFamily="34" charset="0"/>
              </a:rPr>
              <a:t>18 de abril de 2026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8E4AAA5-32E7-C41D-F3CA-C840D8A740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30"/>
          <a:stretch/>
        </p:blipFill>
        <p:spPr>
          <a:xfrm>
            <a:off x="10437284" y="0"/>
            <a:ext cx="1754716" cy="1981200"/>
          </a:xfrm>
          <a:prstGeom prst="rect">
            <a:avLst/>
          </a:prstGeom>
        </p:spPr>
      </p:pic>
      <p:sp>
        <p:nvSpPr>
          <p:cNvPr id="12" name="Rectángulo 11">
            <a:extLst>
              <a:ext uri="{FF2B5EF4-FFF2-40B4-BE49-F238E27FC236}">
                <a16:creationId xmlns:a16="http://schemas.microsoft.com/office/drawing/2014/main" id="{7ABD84B9-4357-EC47-6358-4A80EC6C5FB4}"/>
              </a:ext>
            </a:extLst>
          </p:cNvPr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56562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8A7CD9D-4864-1511-CFE2-30D7755891D4}"/>
              </a:ext>
            </a:extLst>
          </p:cNvPr>
          <p:cNvSpPr txBox="1"/>
          <p:nvPr/>
        </p:nvSpPr>
        <p:spPr>
          <a:xfrm>
            <a:off x="2293515" y="215900"/>
            <a:ext cx="7604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Estrés y descanso: ¿Qué pasa en nuestro cuerpo?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887CBBE-CBC3-63D1-6602-F8877EC3BCC8}"/>
              </a:ext>
            </a:extLst>
          </p:cNvPr>
          <p:cNvSpPr txBox="1"/>
          <p:nvPr/>
        </p:nvSpPr>
        <p:spPr>
          <a:xfrm>
            <a:off x="2441792" y="920621"/>
            <a:ext cx="7308411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Estrés</a:t>
            </a:r>
            <a:endParaRPr lang="es-AR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Activación del sistema de alerta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↑ cortisol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Estado de “hiperactivación”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pasa si se sostiene?</a:t>
            </a:r>
            <a:endParaRPr lang="es-AR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Dificultad para relajarse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Problemas para conciliar o sostener el sueño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Sueño saludable</a:t>
            </a:r>
            <a:endParaRPr lang="es-AR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El sueño tiene una estructura organizada en distintas fases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Necesitamos recorrer esas fases para un descanso reparador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Regulado por neurotransmisores (</a:t>
            </a:r>
            <a:r>
              <a:rPr lang="es-AR" sz="2000" dirty="0" err="1"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: GABA, melatonina)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problema</a:t>
            </a:r>
            <a:b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👉 Estrés + mal descanso = círculo que se retroalimenta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F322C0A-A9CD-CE17-B7D9-DC9214B69C9C}"/>
              </a:ext>
            </a:extLst>
          </p:cNvPr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C8A6BB3-97FD-F0D3-EDF7-91672DEBB4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328" t="31746" r="15890" b="28889"/>
          <a:stretch/>
        </p:blipFill>
        <p:spPr>
          <a:xfrm>
            <a:off x="8389258" y="1331486"/>
            <a:ext cx="3556000" cy="269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44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4C16A-300B-F48B-0687-757A41620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25E0901-5091-2622-482B-AC44E627A8CC}"/>
              </a:ext>
            </a:extLst>
          </p:cNvPr>
          <p:cNvSpPr txBox="1"/>
          <p:nvPr/>
        </p:nvSpPr>
        <p:spPr>
          <a:xfrm>
            <a:off x="2977195" y="177800"/>
            <a:ext cx="6237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todo es lo mismo: estrés vs descanso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A708EFF-7A9F-17F0-5805-DBD6015A5FD9}"/>
              </a:ext>
            </a:extLst>
          </p:cNvPr>
          <p:cNvSpPr txBox="1"/>
          <p:nvPr/>
        </p:nvSpPr>
        <p:spPr>
          <a:xfrm>
            <a:off x="1055995" y="1382286"/>
            <a:ext cx="10080004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es lo mismo:</a:t>
            </a:r>
            <a:endParaRPr lang="es-AR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Reducir el estrés / la ansiedad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Mejorar el descanso / el sueño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la práctica existen distintas herramientas:</a:t>
            </a:r>
            <a:endParaRPr lang="es-AR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Fármacos ansiolíticos → ayudan a disminuir la excitabilidad (clonazepam, alprazolam)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Fármacos hipnóticos → favorecen el inicio o mantenimiento del sueño (zolpidem)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⚠️ </a:t>
            </a:r>
            <a:r>
              <a:rPr lang="es-A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Importante:</a:t>
            </a:r>
            <a:endParaRPr lang="es-AR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Requieren indicación y seguimiento médico</a:t>
            </a:r>
          </a:p>
          <a:p>
            <a:endParaRPr lang="es-AR" sz="2000" b="1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¿Y las plantas medicinales?</a:t>
            </a:r>
            <a:b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👉 Pueden acompañar estos procesos (según la planta y el objetivo)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412FC66-0F14-9298-B710-EE7FD7B85679}"/>
              </a:ext>
            </a:extLst>
          </p:cNvPr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75618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8305F-9811-EA0D-6B61-EA996DFD2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C566651-F204-8631-ED7B-142D06494822}"/>
              </a:ext>
            </a:extLst>
          </p:cNvPr>
          <p:cNvSpPr txBox="1"/>
          <p:nvPr/>
        </p:nvSpPr>
        <p:spPr>
          <a:xfrm>
            <a:off x="3507788" y="152400"/>
            <a:ext cx="5176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usar plantas medicinales?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4C3519A-0D64-5840-B903-505753320C2B}"/>
              </a:ext>
            </a:extLst>
          </p:cNvPr>
          <p:cNvSpPr txBox="1"/>
          <p:nvPr/>
        </p:nvSpPr>
        <p:spPr>
          <a:xfrm>
            <a:off x="2243018" y="1551563"/>
            <a:ext cx="7705956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Infusión: no todo es lo mismo</a:t>
            </a:r>
            <a:endParaRPr lang="es-AR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Saquito → dosis más estandarizada, generalmente más suave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Planta suelta → mayor concentración, más variable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¿De qué depende el efecto?</a:t>
            </a:r>
            <a:endParaRPr lang="es-AR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Cantidad de planta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Tiempo de infusión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Parte de la planta utilizada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tener en cuenta</a:t>
            </a:r>
            <a:endParaRPr lang="es-AR" sz="2000" dirty="0">
              <a:solidFill>
                <a:schemeClr val="accent6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No es lo mismo “tomar un té” que usar una planta con un objetivo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La constancia importa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9224627-1C93-AE2F-0A51-968DAC06B6E4}"/>
              </a:ext>
            </a:extLst>
          </p:cNvPr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74353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00AC9-FF55-FDB4-6F42-0812718DD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FD05EEF-4755-79FC-445C-33FF2AE541C8}"/>
              </a:ext>
            </a:extLst>
          </p:cNvPr>
          <p:cNvSpPr txBox="1"/>
          <p:nvPr/>
        </p:nvSpPr>
        <p:spPr>
          <a:xfrm>
            <a:off x="3842013" y="165100"/>
            <a:ext cx="45079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plantas podemos usar?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8B4E0AF-02C5-1493-54B8-54AB3DA382BA}"/>
              </a:ext>
            </a:extLst>
          </p:cNvPr>
          <p:cNvSpPr txBox="1"/>
          <p:nvPr/>
        </p:nvSpPr>
        <p:spPr>
          <a:xfrm>
            <a:off x="2052259" y="1393845"/>
            <a:ext cx="8087470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🌿 Durante el día (estrés / ansiedad leve)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Melisa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Lavanda</a:t>
            </a:r>
          </a:p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👉 Ayudan a reducir el nerviosismo sin generar somnolencia marcada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🌙 Por la noche (descanso / sueño)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Pasiflora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Valeriana</a:t>
            </a:r>
          </a:p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👉 Favorecen la relajación y el inicio del sueño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0FA72E-5650-C591-BF9E-E220141CBD69}"/>
              </a:ext>
            </a:extLst>
          </p:cNvPr>
          <p:cNvSpPr txBox="1"/>
          <p:nvPr/>
        </p:nvSpPr>
        <p:spPr>
          <a:xfrm>
            <a:off x="3562288" y="5638800"/>
            <a:ext cx="5250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i="1" dirty="0">
                <a:latin typeface="Arial" panose="020B0604020202020204" pitchFamily="34" charset="0"/>
                <a:cs typeface="Arial" panose="020B0604020202020204" pitchFamily="34" charset="0"/>
              </a:rPr>
              <a:t>La elección depende de cada persona y situación</a:t>
            </a:r>
            <a:endParaRPr lang="es-A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653C3E7-39B0-BAB6-5B06-B9E16763A5DE}"/>
              </a:ext>
            </a:extLst>
          </p:cNvPr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78469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0520CC9-A6C6-2722-93E2-51F77C31C7A4}"/>
              </a:ext>
            </a:extLst>
          </p:cNvPr>
          <p:cNvSpPr txBox="1"/>
          <p:nvPr/>
        </p:nvSpPr>
        <p:spPr>
          <a:xfrm>
            <a:off x="4191472" y="165100"/>
            <a:ext cx="3809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Melisa (</a:t>
            </a:r>
            <a:r>
              <a:rPr lang="es-AR" sz="2400" i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Melissa </a:t>
            </a:r>
            <a:r>
              <a:rPr lang="es-AR" sz="2400" i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officinalis</a:t>
            </a:r>
            <a:r>
              <a:rPr lang="es-AR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48697E4-5893-0C95-1EBE-200A6CE2D2AE}"/>
              </a:ext>
            </a:extLst>
          </p:cNvPr>
          <p:cNvSpPr txBox="1"/>
          <p:nvPr/>
        </p:nvSpPr>
        <p:spPr>
          <a:xfrm>
            <a:off x="338552" y="626765"/>
            <a:ext cx="7104830" cy="59400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🌿 ¿Para qué sirve?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Estrés, ansiedad leve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Dificultad para relajarse / insomnio leve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Molestias digestivas de origen nervioso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☕ ¿Cómo usarla?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Infusión de </a:t>
            </a:r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hojas</a:t>
            </a: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 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10 g/L de agua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1–2 tazas por día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🧠 ¿Cómo actúa?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Efecto relajante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Actúa sobre el sistema límbico</a:t>
            </a:r>
            <a:b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👉 (regulación de emociones, memoria y respuesta al estrés)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⚠️ A tener en cuenta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Evitar uso prolongado en hipotiroidismo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Puede potenciar sedantes (</a:t>
            </a:r>
            <a:r>
              <a:rPr lang="es-AR" sz="2000" dirty="0" err="1"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: barbitúricos)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Evitar en embarazo y lactancia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428AEDB-F924-945D-1836-7DA9262B6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382" y="626765"/>
            <a:ext cx="4410065" cy="594008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A1C5183-6F7A-0FAE-956B-A3B7BBD2C5EC}"/>
              </a:ext>
            </a:extLst>
          </p:cNvPr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93598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3F37D-2AAB-B2FC-C9EC-56E80498C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F111C7F-6AFE-01CE-95C3-8424C4081C3E}"/>
              </a:ext>
            </a:extLst>
          </p:cNvPr>
          <p:cNvSpPr txBox="1"/>
          <p:nvPr/>
        </p:nvSpPr>
        <p:spPr>
          <a:xfrm>
            <a:off x="2730736" y="114300"/>
            <a:ext cx="67305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Lavanda </a:t>
            </a:r>
          </a:p>
          <a:p>
            <a:pPr algn="ctr"/>
            <a:r>
              <a:rPr lang="es-AR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2400" i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Lavandula</a:t>
            </a:r>
            <a:r>
              <a:rPr lang="es-AR" sz="2400" i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angustifolia, </a:t>
            </a:r>
            <a:r>
              <a:rPr lang="es-AR" sz="2400" i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Lavandula</a:t>
            </a:r>
            <a:r>
              <a:rPr lang="es-AR" sz="2400" i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400" i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officinalis</a:t>
            </a:r>
            <a:r>
              <a:rPr lang="es-AR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30631F4-8CA0-0D78-4F4D-FAEEB0539897}"/>
              </a:ext>
            </a:extLst>
          </p:cNvPr>
          <p:cNvSpPr txBox="1"/>
          <p:nvPr/>
        </p:nvSpPr>
        <p:spPr>
          <a:xfrm>
            <a:off x="516352" y="1300897"/>
            <a:ext cx="6032421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🌿 ¿Para qué sirve?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Estrés, ansiedad leve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Tensión nerviosa / sobreexcitación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Cefaleas y molestias digestivas de origen nervioso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Puede favorecer el descanso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☕ ¿Cómo usarla?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Infusión de </a:t>
            </a:r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flores</a:t>
            </a: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 💜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~8 g/L de agua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1–2 tazas por día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🧠 ¿Cómo actúa?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Efecto relajante, ansiolítico y antiespasmódico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Actúa a nivel del sistema nervioso</a:t>
            </a:r>
            <a:b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👉 modulando el estado de ánimo y la tensión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F4904F1-3F69-CDDF-7DFA-65E86E37134D}"/>
              </a:ext>
            </a:extLst>
          </p:cNvPr>
          <p:cNvSpPr txBox="1"/>
          <p:nvPr/>
        </p:nvSpPr>
        <p:spPr>
          <a:xfrm>
            <a:off x="7641052" y="1300897"/>
            <a:ext cx="45509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🌸 Otras formas de uso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Aromaterapia (aceite esencial, almohada, ambiente)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Uso tópico (efecto suavizante)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⚠️ A tener en cuenta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Puede potenciar fármacos que actúan sobre GABA</a:t>
            </a:r>
            <a:b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2000" dirty="0" err="1"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: clonazepam, alprazolam)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Evitar en embarazo y lactancia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Evitar en patologías </a:t>
            </a:r>
            <a:r>
              <a:rPr lang="es-AR" sz="2000" dirty="0" err="1">
                <a:latin typeface="Arial" panose="020B0604020202020204" pitchFamily="34" charset="0"/>
                <a:cs typeface="Arial" panose="020B0604020202020204" pitchFamily="34" charset="0"/>
              </a:rPr>
              <a:t>hormonodependientes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33B78FE-D95A-A793-DAA5-6183AFACA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967" y="2781299"/>
            <a:ext cx="1626065" cy="2216349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F9B8D14C-5E2F-11CE-5918-C0E993B6A27C}"/>
              </a:ext>
            </a:extLst>
          </p:cNvPr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1509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65C0D-E4A2-CD9C-DD2B-951FD5FE4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864CB10-E96B-57D4-76E1-46918AD0F718}"/>
              </a:ext>
            </a:extLst>
          </p:cNvPr>
          <p:cNvSpPr txBox="1"/>
          <p:nvPr/>
        </p:nvSpPr>
        <p:spPr>
          <a:xfrm>
            <a:off x="2730736" y="114300"/>
            <a:ext cx="67305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Pasionaria</a:t>
            </a:r>
          </a:p>
          <a:p>
            <a:pPr algn="ctr"/>
            <a:r>
              <a:rPr lang="es-AR" sz="2400" i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2400" i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Passiflora</a:t>
            </a:r>
            <a:r>
              <a:rPr lang="es-AR" sz="2400" i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400" i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incarnata</a:t>
            </a:r>
            <a:r>
              <a:rPr lang="es-AR" sz="2400" i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AR" sz="2400" i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Passiflora</a:t>
            </a:r>
            <a:r>
              <a:rPr lang="es-AR" sz="2400" i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AR" sz="2400" i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edulis</a:t>
            </a:r>
            <a:r>
              <a:rPr lang="es-AR" sz="2400" i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341A6D1-680D-E3A7-11F5-FC31E118ECFC}"/>
              </a:ext>
            </a:extLst>
          </p:cNvPr>
          <p:cNvSpPr txBox="1"/>
          <p:nvPr/>
        </p:nvSpPr>
        <p:spPr>
          <a:xfrm>
            <a:off x="516352" y="1300897"/>
            <a:ext cx="6484467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🌿 ¿Para qué sirve?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Ansiedad, estrés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Dificultad para dormir / insomnio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Tensión nerviosa con manifestaciones físicas</a:t>
            </a:r>
            <a:b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(palpitaciones, inquietud)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☕ ¿Cómo usarla?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Infusión de </a:t>
            </a:r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partes aéreas</a:t>
            </a: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 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~8 g/L de agua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1 taza por la noche (puede repetirse según necesidad)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🧠 ¿Cómo actúa?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Efecto ansiolítico y sedante suave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Favorece la relajación</a:t>
            </a:r>
            <a:b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👉 ayuda a “bajar revoluciones” antes de dormir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DFB2C9F-5F90-CBC5-44AC-84D6CD05CAB7}"/>
              </a:ext>
            </a:extLst>
          </p:cNvPr>
          <p:cNvSpPr txBox="1"/>
          <p:nvPr/>
        </p:nvSpPr>
        <p:spPr>
          <a:xfrm>
            <a:off x="7412452" y="1300897"/>
            <a:ext cx="455094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➕ Otros usos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Puede ayudar en molestias menstruales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Útil en síntomas asociados al estrés (respiración agitada, tensión)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⚠️ A tener en cuenta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Puede potenciar sedantes</a:t>
            </a:r>
            <a:b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2000" dirty="0" err="1"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: benzodiazepinas, barbitúricos)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Evitar en embarazo y lactancia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En altas dosis: náuseas, somnolencia, ↓ frecuencia cardíaca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698FA85-A1C7-FAD4-2804-D8C7FDABB8BA}"/>
              </a:ext>
            </a:extLst>
          </p:cNvPr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96235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150C8-D93E-FDBF-7365-8A5F721E4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76606CD-6ADF-6C35-DB22-F061C8BE2021}"/>
              </a:ext>
            </a:extLst>
          </p:cNvPr>
          <p:cNvSpPr txBox="1"/>
          <p:nvPr/>
        </p:nvSpPr>
        <p:spPr>
          <a:xfrm>
            <a:off x="2730736" y="114300"/>
            <a:ext cx="67305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Valeriana</a:t>
            </a:r>
          </a:p>
          <a:p>
            <a:pPr algn="ctr"/>
            <a:r>
              <a:rPr lang="es-AR" sz="2400" i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(Valeriana </a:t>
            </a:r>
            <a:r>
              <a:rPr lang="es-AR" sz="2400" i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officinalis</a:t>
            </a:r>
            <a:r>
              <a:rPr lang="es-AR" sz="2400" i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8292E19-2813-6742-95F4-AD89A30C8351}"/>
              </a:ext>
            </a:extLst>
          </p:cNvPr>
          <p:cNvSpPr txBox="1"/>
          <p:nvPr/>
        </p:nvSpPr>
        <p:spPr>
          <a:xfrm>
            <a:off x="795752" y="1300897"/>
            <a:ext cx="5176417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🌿 ¿Para qué sirve?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Insomnio / dificultad para conciliar el sueño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Ansiedad con mucha activación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Cefaleas y tensión muscular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Espasmos digestivos o musculares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☕ ¿Cómo usarla?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Decocción de la raíz</a:t>
            </a: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 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~9 g/L de agua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Tomar por la noche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🧠 ¿Cómo actúa?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Efecto sedante y ansiolítico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Favorece el inicio del sueño</a:t>
            </a:r>
            <a:b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👉 ayuda a un descanso más profundo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05A0755-5F74-8467-D2CB-9747486945F8}"/>
              </a:ext>
            </a:extLst>
          </p:cNvPr>
          <p:cNvSpPr txBox="1"/>
          <p:nvPr/>
        </p:nvSpPr>
        <p:spPr>
          <a:xfrm>
            <a:off x="6413500" y="1300897"/>
            <a:ext cx="51764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⚠️ A tener en cuenta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Puede potenciar sedantes</a:t>
            </a:r>
            <a:b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AR" sz="2000" dirty="0" err="1">
                <a:latin typeface="Arial" panose="020B0604020202020204" pitchFamily="34" charset="0"/>
                <a:cs typeface="Arial" panose="020B0604020202020204" pitchFamily="34" charset="0"/>
              </a:rPr>
              <a:t>ej</a:t>
            </a: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: benzodiazepinas, barbitúricos, alcohol)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Evitar en embarazo y lactancia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En algunas personas puede generar efecto contrario (excitación)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29F728F-4F0E-8526-A0BF-DD3C6828A2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147"/>
          <a:stretch/>
        </p:blipFill>
        <p:spPr>
          <a:xfrm>
            <a:off x="7680868" y="3239889"/>
            <a:ext cx="2641680" cy="331470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FABABF54-60D4-9520-510C-97022233200D}"/>
              </a:ext>
            </a:extLst>
          </p:cNvPr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0201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BB07F53-7A35-D518-7F06-FB1695974406}"/>
              </a:ext>
            </a:extLst>
          </p:cNvPr>
          <p:cNvSpPr txBox="1"/>
          <p:nvPr/>
        </p:nvSpPr>
        <p:spPr>
          <a:xfrm>
            <a:off x="3440465" y="177800"/>
            <a:ext cx="5311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¿Las plantas actúan de inmediato?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FC28CEE-4F88-7CB2-6EE3-58A69B969727}"/>
              </a:ext>
            </a:extLst>
          </p:cNvPr>
          <p:cNvSpPr txBox="1"/>
          <p:nvPr/>
        </p:nvSpPr>
        <p:spPr>
          <a:xfrm>
            <a:off x="2582275" y="1843950"/>
            <a:ext cx="702744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🌿 No todas actúan igual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Algunas generan </a:t>
            </a:r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relajación leve desde la primera toma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Otras requieren </a:t>
            </a:r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uso sostenido</a:t>
            </a:r>
          </a:p>
          <a:p>
            <a:pPr>
              <a:buFont typeface="Arial" panose="020B0604020202020204" pitchFamily="34" charset="0"/>
              <a:buChar char="•"/>
            </a:pP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⏳ El efecto suele ser progresivo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Más suave que un fármaco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Depende de la persona y del contexto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👉 </a:t>
            </a:r>
            <a:r>
              <a:rPr lang="es-AR" sz="2000" i="1" dirty="0">
                <a:latin typeface="Arial" panose="020B0604020202020204" pitchFamily="34" charset="0"/>
                <a:cs typeface="Arial" panose="020B0604020202020204" pitchFamily="34" charset="0"/>
              </a:rPr>
              <a:t>No es inmediato ni mágico</a:t>
            </a:r>
          </a:p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👉 </a:t>
            </a:r>
            <a:r>
              <a:rPr lang="es-AR" sz="2000" i="1" dirty="0">
                <a:latin typeface="Arial" panose="020B0604020202020204" pitchFamily="34" charset="0"/>
                <a:cs typeface="Arial" panose="020B0604020202020204" pitchFamily="34" charset="0"/>
              </a:rPr>
              <a:t>La constancia es clave</a:t>
            </a: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008BA43-C8EF-A9CC-764E-E6EEB53F2FF1}"/>
              </a:ext>
            </a:extLst>
          </p:cNvPr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80629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D8EFB-E63C-2815-B235-3F195DFAD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BE8CD18-4ED8-2E78-21E9-2AAF107BBBAD}"/>
              </a:ext>
            </a:extLst>
          </p:cNvPr>
          <p:cNvSpPr txBox="1"/>
          <p:nvPr/>
        </p:nvSpPr>
        <p:spPr>
          <a:xfrm>
            <a:off x="4003919" y="177800"/>
            <a:ext cx="41841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actúan las plantas?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6FF3866-5E81-C3A3-039E-CD3CF51C0C79}"/>
              </a:ext>
            </a:extLst>
          </p:cNvPr>
          <p:cNvSpPr txBox="1"/>
          <p:nvPr/>
        </p:nvSpPr>
        <p:spPr>
          <a:xfrm>
            <a:off x="2582274" y="1382286"/>
            <a:ext cx="702744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🌿 No todas las personas responden igual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La misma planta puede tener efectos distintos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Depende del organismo y el contexto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🧪 Plantas vs medicamentos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Medicamentos → dosis exacta, efecto más predecible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Plantas → múltiples compuestos activos</a:t>
            </a:r>
            <a:b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👉 actúan en conjunto (sinergia)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⏳ ¿Cómo es el efecto?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Más progresivo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Menor concentración de principios activos</a:t>
            </a:r>
            <a:b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👉 efecto más suave, pero también más variable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DDD2715-F285-EF74-9EAB-66A8508DD44C}"/>
              </a:ext>
            </a:extLst>
          </p:cNvPr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6986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CD17663-5972-F84D-2D66-168FABB6BE0B}"/>
              </a:ext>
            </a:extLst>
          </p:cNvPr>
          <p:cNvSpPr txBox="1"/>
          <p:nvPr/>
        </p:nvSpPr>
        <p:spPr>
          <a:xfrm>
            <a:off x="3772287" y="203200"/>
            <a:ext cx="46474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usarlas en la práctica?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6BB1C69-879D-CF26-7A47-31655D47BEC2}"/>
              </a:ext>
            </a:extLst>
          </p:cNvPr>
          <p:cNvSpPr txBox="1"/>
          <p:nvPr/>
        </p:nvSpPr>
        <p:spPr>
          <a:xfrm>
            <a:off x="2582276" y="920621"/>
            <a:ext cx="702744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🔁 Hacer una prueba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Usar durante </a:t>
            </a:r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2–4 semanas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Observar cómo responde el cuerpo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📓 Registrar cambios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Sueño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Estrés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Cómo nos sentimos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☕ Ajustar de forma progresiva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Empezar con 1 taza al día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Luego aumentar a 2–3 según necesidad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b="1" dirty="0">
                <a:latin typeface="Arial" panose="020B0604020202020204" pitchFamily="34" charset="0"/>
                <a:cs typeface="Arial" panose="020B0604020202020204" pitchFamily="34" charset="0"/>
              </a:rPr>
              <a:t>⚠️ Tener en cuenta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No es inmediato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No combinar con medicación sin consultar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2C80881-2EE7-02E5-968F-5844C3EEA793}"/>
              </a:ext>
            </a:extLst>
          </p:cNvPr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982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76AD3DD-75D1-1957-1A82-6201106BA6B9}"/>
              </a:ext>
            </a:extLst>
          </p:cNvPr>
          <p:cNvSpPr txBox="1"/>
          <p:nvPr/>
        </p:nvSpPr>
        <p:spPr>
          <a:xfrm>
            <a:off x="4737294" y="203200"/>
            <a:ext cx="27174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llevarse hoy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AD830B2-A71D-CB26-7C55-6E6EBBFEE9CC}"/>
              </a:ext>
            </a:extLst>
          </p:cNvPr>
          <p:cNvSpPr txBox="1"/>
          <p:nvPr/>
        </p:nvSpPr>
        <p:spPr>
          <a:xfrm>
            <a:off x="1358899" y="2459504"/>
            <a:ext cx="9474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🌿 Elegir una planta según el objetivo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⏳ Darle tiempo al cuerpo (no es inmediato)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🔁 Ser constante y observar</a:t>
            </a: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👉 </a:t>
            </a:r>
            <a:r>
              <a:rPr lang="es-AR" sz="2000" i="1" dirty="0">
                <a:latin typeface="Arial" panose="020B0604020202020204" pitchFamily="34" charset="0"/>
                <a:cs typeface="Arial" panose="020B0604020202020204" pitchFamily="34" charset="0"/>
              </a:rPr>
              <a:t>Las plantas pueden ayudar, pero no reemplazan el abordaje integral del estrés</a:t>
            </a:r>
            <a:r>
              <a:rPr lang="es-AR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D4D3BFF-A413-212A-23DE-745C631DEC7F}"/>
              </a:ext>
            </a:extLst>
          </p:cNvPr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90253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09397A71-FBCE-6D1E-9F63-46C97EDCCFF5}"/>
              </a:ext>
            </a:extLst>
          </p:cNvPr>
          <p:cNvSpPr/>
          <p:nvPr/>
        </p:nvSpPr>
        <p:spPr>
          <a:xfrm>
            <a:off x="1982145" y="1720840"/>
            <a:ext cx="822771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MX" sz="540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Muchas gracias por su participación</a:t>
            </a:r>
          </a:p>
          <a:p>
            <a:pPr algn="ctr"/>
            <a:endParaRPr lang="es-MX" sz="5400" b="0" cap="none" spc="0" dirty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5400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¿Dudas?</a:t>
            </a:r>
            <a:endParaRPr lang="es-MX" sz="5400" b="0" cap="none" spc="0" dirty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D37AA2D-4376-C384-8728-4B280998C835}"/>
              </a:ext>
            </a:extLst>
          </p:cNvPr>
          <p:cNvSpPr/>
          <p:nvPr/>
        </p:nvSpPr>
        <p:spPr>
          <a:xfrm>
            <a:off x="0" y="6591300"/>
            <a:ext cx="12192000" cy="26670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403574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1012</Words>
  <Application>Microsoft Macintosh PowerPoint</Application>
  <PresentationFormat>Panorámica</PresentationFormat>
  <Paragraphs>194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Ayelen Florencia Crespi</dc:creator>
  <cp:lastModifiedBy>Ayelen Florencia Crespi</cp:lastModifiedBy>
  <cp:revision>26</cp:revision>
  <dcterms:created xsi:type="dcterms:W3CDTF">2026-04-18T10:05:10Z</dcterms:created>
  <dcterms:modified xsi:type="dcterms:W3CDTF">2026-04-18T11:35:29Z</dcterms:modified>
</cp:coreProperties>
</file>