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 ?>
<Relationships xmlns="http://schemas.openxmlformats.org/package/2006/relationships">
  <Relationship Id="rId1" Target="ppt/presentation.xml" Type="http://schemas.openxmlformats.org/officeDocument/2006/relationships/officeDocument"/>
  <Relationship Id="rId3" Target="docProps/core.xml" Type="http://schemas.openxmlformats.org/package/2006/relationships/metadata/core-properties"/>
  <Relationship Id="rId2" Target="docProps/app.xml" Type="http://schemas.openxmlformats.org/officeDocument/2006/relationships/extended-properties"/>
</Relationships>

</file>

<file path=ppt/presentation.xml><?xml version="1.0" encoding="utf-8"?>
<p:presentation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/>
  <p:notesSz cx="5143500" cy="9144000"/>
</p:presentation>
</file>

<file path=ppt/tableStyles.xml><?xml version="1.0" encoding="utf-8"?>
<a:tblStyleLst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def="{5C22544A-7EE6-4342-B048-85BDC9FD1C3A}"/>
</file>

<file path=ppt/viewProps.xml><?xml version="1.0" encoding="utf-8"?>
<p:viewPr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>
  <p:gridSpacing cx="180000" cy="180000"/>
</p:viewPr>
</file>

<file path=ppt/_rels/presentation.xml.rels><?xml version="1.0" encoding="UTF-8" standalone="no" ?>
<Relationships xmlns="http://schemas.openxmlformats.org/package/2006/relationships">
  <Relationship Id="rId3" Target="slides/slide1.xml" Type="http://schemas.openxmlformats.org/officeDocument/2006/relationships/slide"/>
  <Relationship Id="rId11" Target="slides/slide9.xml" Type="http://schemas.openxmlformats.org/officeDocument/2006/relationships/slide"/>
  <Relationship Id="rId8" Target="slides/slide6.xml" Type="http://schemas.openxmlformats.org/officeDocument/2006/relationships/slide"/>
  <Relationship Id="rId18" Target="tableStyles.xml" Type="http://schemas.openxmlformats.org/officeDocument/2006/relationships/tableStyles"/>
  <Relationship Id="rId16" Target="slides/slide14.xml" Type="http://schemas.openxmlformats.org/officeDocument/2006/relationships/slide"/>
  <Relationship Id="rId5" Target="slides/slide3.xml" Type="http://schemas.openxmlformats.org/officeDocument/2006/relationships/slide"/>
  <Relationship Id="rId12" Target="slides/slide10.xml" Type="http://schemas.openxmlformats.org/officeDocument/2006/relationships/slide"/>
  <Relationship Id="rId17" Target="slides/slide15.xml" Type="http://schemas.openxmlformats.org/officeDocument/2006/relationships/slide"/>
  <Relationship Id="rId4" Target="slides/slide2.xml" Type="http://schemas.openxmlformats.org/officeDocument/2006/relationships/slide"/>
  <Relationship Id="rId10" Target="slides/slide8.xml" Type="http://schemas.openxmlformats.org/officeDocument/2006/relationships/slide"/>
  <Relationship Id="rId19" Target="viewProps.xml" Type="http://schemas.openxmlformats.org/officeDocument/2006/relationships/viewProps"/>
  <Relationship Id="rId6" Target="slides/slide4.xml" Type="http://schemas.openxmlformats.org/officeDocument/2006/relationships/slide"/>
  <Relationship Id="rId2" Target="slideMasters/slideMaster1.xml" Type="http://schemas.openxmlformats.org/officeDocument/2006/relationships/slideMaster"/>
  <Relationship Id="rId1" Target="theme/theme1.xml" Type="http://schemas.openxmlformats.org/officeDocument/2006/relationships/theme"/>
  <Relationship Id="rId14" Target="slides/slide12.xml" Type="http://schemas.openxmlformats.org/officeDocument/2006/relationships/slide"/>
  <Relationship Id="rId15" Target="slides/slide13.xml" Type="http://schemas.openxmlformats.org/officeDocument/2006/relationships/slide"/>
  <Relationship Id="rId9" Target="slides/slide7.xml" Type="http://schemas.openxmlformats.org/officeDocument/2006/relationships/slide"/>
  <Relationship Id="rId7" Target="slides/slide5.xml" Type="http://schemas.openxmlformats.org/officeDocument/2006/relationships/slide"/>
  <Relationship Id="rId13" Target="slides/slide11.xml" Type="http://schemas.openxmlformats.org/officeDocument/2006/relationships/slide"/>
</Relationships>

</file>

<file path=ppt/slideLayouts/_rels/slideLayout1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slideLayout1.xml><?xml version="1.0" encoding="utf-8"?>
<p:sldLayout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cust">
  <p:cSld name="DEFAULT">
    <p:bg>
      <p:bgRef idx="1001">
        <a:schemeClr val="bg1"/>
      </p:bgRef>
    </p:bg>
    <p:spTree>
      <p:nvGrpSpPr>
        <p:cNvPr hidden="false" id="2" name="GroupShape 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no" ?>
<Relationships xmlns="http://schemas.openxmlformats.org/package/2006/relationships">
  <Relationship Id="rId1" Target="../theme/theme1.xml" Type="http://schemas.openxmlformats.org/officeDocument/2006/relationships/theme"/>
  <Relationship Id="rId2" Target="../slideLayouts/slideLayout1.xml" Type="http://schemas.openxmlformats.org/officeDocument/2006/relationships/slideLayout"/>
</Relationships>

</file>

<file path=ppt/slideMasters/slideMaster1.xml><?xml version="1.0" encoding="utf-8"?>
<p:sldMaster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Ref idx="1001">
        <a:schemeClr val="bg1"/>
      </p:bgRef>
    </p:bg>
    <p:spTree>
      <p:nvGrpSpPr>
        <p:cNvPr hidden="false" id="1" name="GroupShape 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2"/>
  </p:sldLayoutIdLst>
  <p:txStyles>
    <p:titleStyle>
      <a:defPPr/>
      <a:lvl1pPr algn="ctr" lvl="0"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defPPr/>
      <a:lvl1pPr algn="l" indent="-342900" lvl="0" marL="342900"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algn="l" indent="-285750" lvl="1" marL="742950"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algn="l" indent="-228600" lvl="2" marL="1143000"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algn="l" indent="-228600" lvl="3" marL="1600200"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algn="l" indent="-228600" lvl="4" marL="2057400"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algn="l" indent="-228600" lvl="5" marL="2514600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algn="l" indent="-228600" lvl="6" marL="2971800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algn="l" indent="-228600" lvl="7" marL="3429000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algn="l" indent="-228600" lvl="8" marL="3886200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/>
      <a:lvl1pPr algn="l" indent="0" lvl="0" marL="0">
        <a:defRPr sz="1800">
          <a:latin typeface="+mn-lt"/>
          <a:ea typeface="+mn-ea"/>
          <a:cs typeface="+mn-cs"/>
        </a:defRPr>
      </a:lvl1pPr>
      <a:lvl2pPr algn="l" indent="0" lvl="1" marL="457200">
        <a:defRPr sz="1800">
          <a:latin typeface="+mn-lt"/>
          <a:ea typeface="+mn-ea"/>
          <a:cs typeface="+mn-cs"/>
        </a:defRPr>
      </a:lvl2pPr>
      <a:lvl3pPr algn="l" indent="0" lvl="2" marL="914400">
        <a:defRPr sz="1800">
          <a:latin typeface="+mn-lt"/>
          <a:ea typeface="+mn-ea"/>
          <a:cs typeface="+mn-cs"/>
        </a:defRPr>
      </a:lvl3pPr>
      <a:lvl4pPr algn="l" indent="0" lvl="3" marL="1371600">
        <a:defRPr sz="1800">
          <a:latin typeface="+mn-lt"/>
          <a:ea typeface="+mn-ea"/>
          <a:cs typeface="+mn-cs"/>
        </a:defRPr>
      </a:lvl4pPr>
      <a:lvl5pPr algn="l" indent="0" lvl="4" marL="1828800">
        <a:defRPr sz="1800">
          <a:latin typeface="+mn-lt"/>
          <a:ea typeface="+mn-ea"/>
          <a:cs typeface="+mn-cs"/>
        </a:defRPr>
      </a:lvl5pPr>
      <a:lvl6pPr algn="l" indent="0" lvl="5" marL="2286000">
        <a:defRPr sz="1800">
          <a:latin typeface="+mn-lt"/>
          <a:ea typeface="+mn-ea"/>
          <a:cs typeface="+mn-cs"/>
        </a:defRPr>
      </a:lvl6pPr>
      <a:lvl7pPr algn="l" indent="0" lvl="6" marL="2743200">
        <a:defRPr sz="1800">
          <a:latin typeface="+mn-lt"/>
          <a:ea typeface="+mn-ea"/>
          <a:cs typeface="+mn-cs"/>
        </a:defRPr>
      </a:lvl7pPr>
      <a:lvl8pPr algn="l" indent="0" lvl="7" marL="3200400">
        <a:defRPr sz="1800">
          <a:latin typeface="+mn-lt"/>
          <a:ea typeface="+mn-ea"/>
          <a:cs typeface="+mn-cs"/>
        </a:defRPr>
      </a:lvl8pPr>
      <a:lvl9pPr algn="l" indent="0" lvl="8" marL="3657600">
        <a:defRPr sz="1800"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 ?>
<Relationships xmlns="http://schemas.openxmlformats.org/package/2006/relationships">
  <Relationship Id="rId1" Target="../media/1.png" Type="http://schemas.openxmlformats.org/officeDocument/2006/relationships/image"/>
  <Relationship Id="rId2" Target="../slideLayouts/slideLayout1.xml" Type="http://schemas.openxmlformats.org/officeDocument/2006/relationships/slideLayout"/>
</Relationships>

</file>

<file path=ppt/slides/_rels/slide2.xml.rels><?xml version="1.0" encoding="UTF-8" standalone="no" ?>
<Relationships xmlns="http://schemas.openxmlformats.org/package/2006/relationships">
  <Relationship Id="rId1" Target="../slideLayouts/slideLayout1.xml" Type="http://schemas.openxmlformats.org/officeDocument/2006/relationships/slideLayout"/>
</Relationships>

</file>

<file path=ppt/slides/_rels/slide3.xml.rels><?xml version="1.0" encoding="UTF-8" standalone="no" ?>
<Relationships xmlns="http://schemas.openxmlformats.org/package/2006/relationships">
  <Relationship Id="rId1" Target="../slideLayouts/slideLayout1.xml" Type="http://schemas.openxmlformats.org/officeDocument/2006/relationships/slideLayout"/>
</Relationships>

</file>

<file path=ppt/slides/_rels/slide4.xml.rels><?xml version="1.0" encoding="UTF-8" standalone="no" ?>
<Relationships xmlns="http://schemas.openxmlformats.org/package/2006/relationships">
  <Relationship Id="rId1" Target="../media/2.png" Type="http://schemas.openxmlformats.org/officeDocument/2006/relationships/image"/>
  <Relationship Id="rId2" Target="../slideLayouts/slideLayout1.xml" Type="http://schemas.openxmlformats.org/officeDocument/2006/relationships/slideLayout"/>
</Relationships>

</file>

<file path=ppt/slides/_rels/slide5.xml.rels><?xml version="1.0" encoding="UTF-8" standalone="no" ?>
<Relationships xmlns="http://schemas.openxmlformats.org/package/2006/relationships">
  <Relationship Id="rId1" Target="../slideLayouts/slideLayout1.xml" Type="http://schemas.openxmlformats.org/officeDocument/2006/relationships/slideLayout"/>
</Relationships>

</file>

<file path=ppt/slides/_rels/slide6.xml.rels><?xml version="1.0" encoding="UTF-8" standalone="no" ?>
<Relationships xmlns="http://schemas.openxmlformats.org/package/2006/relationships">
  <Relationship Id="rId1" Target="../slideLayouts/slideLayout1.xml" Type="http://schemas.openxmlformats.org/officeDocument/2006/relationships/slideLayout"/>
</Relationships>

</file>

<file path=ppt/slides/_rels/slide7.xml.rels><?xml version="1.0" encoding="UTF-8" standalone="no" ?>
<Relationships xmlns="http://schemas.openxmlformats.org/package/2006/relationships">
  <Relationship Id="rId1" Target="../slideLayouts/slideLayout1.xml" Type="http://schemas.openxmlformats.org/officeDocument/2006/relationships/slideLayout"/>
</Relationships>

</file>

<file path=ppt/slides/_rels/slide8.xml.rels><?xml version="1.0" encoding="UTF-8" standalone="no" ?>
<Relationships xmlns="http://schemas.openxmlformats.org/package/2006/relationships">
  <Relationship Id="rId1" Target="../slideLayouts/slideLayout1.xml" Type="http://schemas.openxmlformats.org/officeDocument/2006/relationships/slideLayout"/>
</Relationships>

</file>

<file path=ppt/slides/_rels/slide9.xml.rels><?xml version="1.0" encoding="UTF-8" standalone="no" ?>
<Relationships xmlns="http://schemas.openxmlformats.org/package/2006/relationships">
  <Relationship Id="rId1" Target="../slideLayouts/slideLayout1.xml" Type="http://schemas.openxmlformats.org/officeDocument/2006/relationships/slideLayout"/>
</Relationships>

</file>

<file path=ppt/slides/_rels/slide10.xml.rels><?xml version="1.0" encoding="UTF-8" standalone="no" ?>
<Relationships xmlns="http://schemas.openxmlformats.org/package/2006/relationships">
  <Relationship Id="rId1" Target="../slideLayouts/slideLayout1.xml" Type="http://schemas.openxmlformats.org/officeDocument/2006/relationships/slideLayout"/>
</Relationships>

</file>

<file path=ppt/slides/_rels/slide11.xml.rels><?xml version="1.0" encoding="UTF-8" standalone="no" ?>
<Relationships xmlns="http://schemas.openxmlformats.org/package/2006/relationships">
  <Relationship Id="rId1" Target="../slideLayouts/slideLayout1.xml" Type="http://schemas.openxmlformats.org/officeDocument/2006/relationships/slideLayout"/>
</Relationships>

</file>

<file path=ppt/slides/_rels/slide12.xml.rels><?xml version="1.0" encoding="UTF-8" standalone="no" ?>
<Relationships xmlns="http://schemas.openxmlformats.org/package/2006/relationships">
  <Relationship Id="rId1" Target="../slideLayouts/slideLayout1.xml" Type="http://schemas.openxmlformats.org/officeDocument/2006/relationships/slideLayout"/>
</Relationships>

</file>

<file path=ppt/slides/_rels/slide13.xml.rels><?xml version="1.0" encoding="UTF-8" standalone="no" ?>
<Relationships xmlns="http://schemas.openxmlformats.org/package/2006/relationships">
  <Relationship Id="rId1" Target="../slideLayouts/slideLayout1.xml" Type="http://schemas.openxmlformats.org/officeDocument/2006/relationships/slideLayout"/>
</Relationships>

</file>

<file path=ppt/slides/_rels/slide14.xml.rels><?xml version="1.0" encoding="UTF-8" standalone="no" ?>
<Relationships xmlns="http://schemas.openxmlformats.org/package/2006/relationships">
  <Relationship Id="rId1" Target="../slideLayouts/slideLayout1.xml" Type="http://schemas.openxmlformats.org/officeDocument/2006/relationships/slideLayout"/>
</Relationships>

</file>

<file path=ppt/slides/_rels/slide15.xml.rels><?xml version="1.0" encoding="UTF-8" standalone="no" ?>
<Relationships xmlns="http://schemas.openxmlformats.org/package/2006/relationships">
  <Relationship Id="rId1" Target="../media/1.png" Type="http://schemas.openxmlformats.org/officeDocument/2006/relationships/image"/>
  <Relationship Id="rId2" Target="../slideLayouts/slideLayout1.xml" Type="http://schemas.openxmlformats.org/officeDocument/2006/relationships/slideLayout"/>
</Relationships>

</file>

<file path=ppt/slides/slide1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bg>
      <p:bgPr>
        <a:solidFill>
          <a:srgbClr val="1B4332"/>
        </a:solidFill>
      </p:bgPr>
    </p:bg>
    <p:spTree>
      <p:nvGrpSpPr>
        <p:cNvPr hidden="false" id="3" name="GroupShape 3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4" name="Shape 4"/>
          <p:cNvSpPr txBox="false"/>
          <p:nvPr isPhoto="false"/>
        </p:nvSpPr>
        <p:spPr>
          <a:xfrm flipH="false" flipV="false" rot="0">
            <a:off x="-731520" y="-731520"/>
            <a:ext cx="2743200" cy="2743200"/>
          </a:xfrm>
          <a:prstGeom prst="ellipse">
            <a:avLst/>
          </a:prstGeom>
          <a:solidFill>
            <a:srgbClr val="2D6A4F">
              <a:alpha val="40000"/>
            </a:srgbClr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5" name="Shape 5"/>
          <p:cNvSpPr txBox="false"/>
          <p:nvPr isPhoto="false"/>
        </p:nvSpPr>
        <p:spPr>
          <a:xfrm flipH="false" flipV="false" rot="0">
            <a:off x="7498080" y="3200400"/>
            <a:ext cx="2286000" cy="2286000"/>
          </a:xfrm>
          <a:prstGeom prst="ellipse">
            <a:avLst/>
          </a:prstGeom>
          <a:solidFill>
            <a:srgbClr val="2D6A4F">
              <a:alpha val="35000"/>
            </a:srgbClr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6" name="Shape 6"/>
          <p:cNvSpPr txBox="false"/>
          <p:nvPr isPhoto="false"/>
        </p:nvSpPr>
        <p:spPr>
          <a:xfrm flipH="false" flipV="false" rot="0">
            <a:off x="6858000" y="-457200"/>
            <a:ext cx="1371600" cy="1371600"/>
          </a:xfrm>
          <a:prstGeom prst="ellipse">
            <a:avLst/>
          </a:prstGeom>
          <a:solidFill>
            <a:srgbClr val="74B49B">
              <a:alpha val="30000"/>
            </a:srgbClr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hidden="false" id="8" name="Picture 8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7132319" y="548640"/>
            <a:ext cx="1645919" cy="1645920"/>
          </a:xfrm>
          <a:prstGeom prst="rect">
            <a:avLst/>
          </a:prstGeom>
        </p:spPr>
      </p:pic>
      <p:sp>
        <p:nvSpPr>
          <p:cNvPr hidden="false" id="9" name="Shape 9"/>
          <p:cNvSpPr txBox="false"/>
          <p:nvPr isPhoto="false"/>
        </p:nvSpPr>
        <p:spPr>
          <a:xfrm flipH="false" flipV="false" rot="0">
            <a:off x="640080" y="1005839"/>
            <a:ext cx="7863840" cy="32003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pc="400" sz="1100">
                <a:solidFill>
                  <a:srgbClr val="B7DFCF"/>
                </a:solidFill>
                <a:latin typeface="+mn-lt"/>
                <a:ea typeface="+mn-ea"/>
                <a:cs typeface="+mn-cs"/>
              </a:rPr>
              <a:t>TALLER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" name="Shape 10"/>
          <p:cNvSpPr txBox="false"/>
          <p:nvPr isPhoto="false"/>
        </p:nvSpPr>
        <p:spPr>
          <a:xfrm flipH="false" flipV="false" rot="0">
            <a:off x="640080" y="1417320"/>
            <a:ext cx="7863840" cy="82295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440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Plantas Medicinales</a:t>
            </a:r>
            <a:endParaRPr sz="44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" name="Shape 11"/>
          <p:cNvSpPr txBox="false"/>
          <p:nvPr isPhoto="false"/>
        </p:nvSpPr>
        <p:spPr>
          <a:xfrm flipH="false" flipV="false" rot="0">
            <a:off x="640080" y="2176272"/>
            <a:ext cx="7863840" cy="68580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3200">
                <a:solidFill>
                  <a:srgbClr val="B7DFCF"/>
                </a:solidFill>
                <a:latin typeface="Georgia"/>
                <a:ea typeface="Georgia"/>
                <a:cs typeface="Georgia"/>
              </a:rPr>
              <a:t>para el Sistema Digestivo</a:t>
            </a:r>
            <a:endParaRPr sz="3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" name="Shape 12"/>
          <p:cNvSpPr txBox="false"/>
          <p:nvPr isPhoto="false"/>
        </p:nvSpPr>
        <p:spPr>
          <a:xfrm flipH="false" flipV="false" rot="0">
            <a:off x="640080" y="2971800"/>
            <a:ext cx="3200400" cy="36576"/>
          </a:xfrm>
          <a:prstGeom prst="rect">
            <a:avLst/>
          </a:prstGeom>
          <a:solidFill>
            <a:srgbClr val="74B49B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" name="Shape 13"/>
          <p:cNvSpPr txBox="false"/>
          <p:nvPr isPhoto="false"/>
        </p:nvSpPr>
        <p:spPr>
          <a:xfrm flipH="false" flipV="false" rot="0">
            <a:off x="568362" y="3200400"/>
            <a:ext cx="6858000" cy="54864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i="true" sz="1600">
                <a:solidFill>
                  <a:srgbClr val="B7DFCF"/>
                </a:solidFill>
                <a:latin typeface="+mn-lt"/>
                <a:ea typeface="+mn-ea"/>
                <a:cs typeface="+mn-cs"/>
              </a:rPr>
              <a:t>Cómo incorporarlas en tu día a día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/>
            <a:endParaRPr i="true" sz="1600">
              <a:solidFill>
                <a:srgbClr val="B7DFCF"/>
              </a:solidFill>
              <a:latin typeface="+mn-lt"/>
              <a:ea typeface="+mn-ea"/>
              <a:cs typeface="+mn-cs"/>
            </a:endParaRPr>
          </a:p>
          <a:p>
            <a:pPr algn="l" indent="0" marL="0"/>
            <a:r>
              <a:rPr i="true" sz="1600">
                <a:solidFill>
                  <a:srgbClr val="B7DFCF"/>
                </a:solidFill>
                <a:latin typeface="+mn-lt"/>
                <a:ea typeface="+mn-ea"/>
                <a:cs typeface="+mn-cs"/>
              </a:rPr>
              <a:t>Sabado 9 de mayo de 2025</a:t>
            </a:r>
            <a:endParaRPr sz="1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" name="Shape 14"/>
          <p:cNvSpPr txBox="false"/>
          <p:nvPr isPhoto="false"/>
        </p:nvSpPr>
        <p:spPr>
          <a:xfrm flipH="false" flipV="false" rot="0">
            <a:off x="640080" y="4389120"/>
            <a:ext cx="4572000" cy="36575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400">
                <a:solidFill>
                  <a:srgbClr val="74B49B"/>
                </a:solidFill>
                <a:latin typeface="+mn-lt"/>
                <a:ea typeface="+mn-ea"/>
                <a:cs typeface="+mn-cs"/>
              </a:rPr>
              <a:t>Mburucuya.hierbas</a:t>
            </a:r>
            <a:endParaRPr sz="14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2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bg>
      <p:bgPr>
        <a:solidFill>
          <a:srgbClr val="F9F6F0"/>
        </a:solidFill>
      </p:bgPr>
    </p:bg>
    <p:spTree>
      <p:nvGrpSpPr>
        <p:cNvPr hidden="false" id="15" name="GroupShape 15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6" name="Shape 16"/>
          <p:cNvSpPr txBox="false"/>
          <p:nvPr isPhoto="false"/>
        </p:nvSpPr>
        <p:spPr>
          <a:xfrm flipH="false" flipV="false" rot="0">
            <a:off x="548640" y="320040"/>
            <a:ext cx="8046719" cy="54864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3000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¿Qué vemos hoy?</a:t>
            </a:r>
            <a:endParaRPr sz="3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7" name="Shape 17"/>
          <p:cNvSpPr txBox="false"/>
          <p:nvPr isPhoto="false"/>
        </p:nvSpPr>
        <p:spPr>
          <a:xfrm flipH="false" flipV="false" rot="0">
            <a:off x="548640" y="1097280"/>
            <a:ext cx="8046719" cy="749808"/>
          </a:xfrm>
          <a:prstGeom prst="rect">
            <a:avLst/>
          </a:prstGeom>
          <a:solidFill>
            <a:srgbClr val="FFFFFF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" name="Shape 18"/>
          <p:cNvSpPr txBox="false"/>
          <p:nvPr isPhoto="false"/>
        </p:nvSpPr>
        <p:spPr>
          <a:xfrm flipH="false" flipV="false" rot="0">
            <a:off x="548640" y="1097280"/>
            <a:ext cx="64008" cy="749808"/>
          </a:xfrm>
          <a:prstGeom prst="rect">
            <a:avLst/>
          </a:prstGeom>
          <a:solidFill>
            <a:srgbClr val="2D6A4F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" name="Shape 19"/>
          <p:cNvSpPr txBox="false"/>
          <p:nvPr isPhoto="false"/>
        </p:nvSpPr>
        <p:spPr>
          <a:xfrm flipH="false" flipV="false" rot="0">
            <a:off x="777240" y="1207008"/>
            <a:ext cx="640080" cy="50291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2200">
                <a:solidFill>
                  <a:srgbClr val="2D6A4F"/>
                </a:solidFill>
                <a:latin typeface="Georgia"/>
                <a:ea typeface="Georgia"/>
                <a:cs typeface="Georgia"/>
              </a:rPr>
              <a:t>01</a:t>
            </a:r>
            <a:endParaRPr sz="2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" name="Shape 20"/>
          <p:cNvSpPr txBox="false"/>
          <p:nvPr isPhoto="false"/>
        </p:nvSpPr>
        <p:spPr>
          <a:xfrm flipH="false" flipV="false" rot="0">
            <a:off x="1508760" y="1188720"/>
            <a:ext cx="6858000" cy="27431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50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Nuestro sistema digestivo</a:t>
            </a:r>
            <a:endParaRPr sz="15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1" name="Shape 21"/>
          <p:cNvSpPr txBox="false"/>
          <p:nvPr isPhoto="false"/>
        </p:nvSpPr>
        <p:spPr>
          <a:xfrm flipH="false" flipV="false" rot="0">
            <a:off x="1508760" y="1481328"/>
            <a:ext cx="6858000" cy="256032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i="true" sz="110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Un recorrido rápido para entender dónde actúan las plantas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2" name="Shape 22"/>
          <p:cNvSpPr txBox="false"/>
          <p:nvPr isPhoto="false"/>
        </p:nvSpPr>
        <p:spPr>
          <a:xfrm flipH="false" flipV="false" rot="0">
            <a:off x="548640" y="2011679"/>
            <a:ext cx="8046719" cy="749808"/>
          </a:xfrm>
          <a:prstGeom prst="rect">
            <a:avLst/>
          </a:prstGeom>
          <a:solidFill>
            <a:srgbClr val="FFFFFF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" name="Shape 23"/>
          <p:cNvSpPr txBox="false"/>
          <p:nvPr isPhoto="false"/>
        </p:nvSpPr>
        <p:spPr>
          <a:xfrm flipH="false" flipV="false" rot="0">
            <a:off x="548640" y="2011679"/>
            <a:ext cx="64008" cy="749808"/>
          </a:xfrm>
          <a:prstGeom prst="rect">
            <a:avLst/>
          </a:prstGeom>
          <a:solidFill>
            <a:srgbClr val="A67C52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4" name="Shape 24"/>
          <p:cNvSpPr txBox="false"/>
          <p:nvPr isPhoto="false"/>
        </p:nvSpPr>
        <p:spPr>
          <a:xfrm flipH="false" flipV="false" rot="0">
            <a:off x="777240" y="2121408"/>
            <a:ext cx="640080" cy="50291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2200">
                <a:solidFill>
                  <a:srgbClr val="A67C52"/>
                </a:solidFill>
                <a:latin typeface="Georgia"/>
                <a:ea typeface="Georgia"/>
                <a:cs typeface="Georgia"/>
              </a:rPr>
              <a:t>02</a:t>
            </a:r>
            <a:endParaRPr sz="2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5" name="Shape 25"/>
          <p:cNvSpPr txBox="false"/>
          <p:nvPr isPhoto="false"/>
        </p:nvSpPr>
        <p:spPr>
          <a:xfrm flipH="false" flipV="false" rot="0">
            <a:off x="1508760" y="2103120"/>
            <a:ext cx="6858000" cy="27432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50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Cómo actuan las plantas</a:t>
            </a:r>
            <a:endParaRPr sz="15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6" name="Shape 26"/>
          <p:cNvSpPr txBox="false"/>
          <p:nvPr isPhoto="false"/>
        </p:nvSpPr>
        <p:spPr>
          <a:xfrm flipH="false" flipV="false" rot="0">
            <a:off x="1508760" y="2395728"/>
            <a:ext cx="6858000" cy="256032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i="true" sz="110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Colagogas, antiespasmódicas, carminativas y más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7" name="Shape 27"/>
          <p:cNvSpPr txBox="false"/>
          <p:nvPr isPhoto="false"/>
        </p:nvSpPr>
        <p:spPr>
          <a:xfrm flipH="false" flipV="false" rot="0">
            <a:off x="548640" y="2926080"/>
            <a:ext cx="8046719" cy="749808"/>
          </a:xfrm>
          <a:prstGeom prst="rect">
            <a:avLst/>
          </a:prstGeom>
          <a:solidFill>
            <a:srgbClr val="FFFFFF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8" name="Shape 28"/>
          <p:cNvSpPr txBox="false"/>
          <p:nvPr isPhoto="false"/>
        </p:nvSpPr>
        <p:spPr>
          <a:xfrm flipH="false" flipV="false" rot="0">
            <a:off x="548640" y="2926080"/>
            <a:ext cx="64008" cy="749808"/>
          </a:xfrm>
          <a:prstGeom prst="rect">
            <a:avLst/>
          </a:prstGeom>
          <a:solidFill>
            <a:srgbClr val="74B49B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9" name="Shape 29"/>
          <p:cNvSpPr txBox="false"/>
          <p:nvPr isPhoto="false"/>
        </p:nvSpPr>
        <p:spPr>
          <a:xfrm flipH="false" flipV="false" rot="0">
            <a:off x="777240" y="3035808"/>
            <a:ext cx="640080" cy="50291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2200">
                <a:solidFill>
                  <a:srgbClr val="74B49B"/>
                </a:solidFill>
                <a:latin typeface="Georgia"/>
                <a:ea typeface="Georgia"/>
                <a:cs typeface="Georgia"/>
              </a:rPr>
              <a:t>03</a:t>
            </a:r>
            <a:endParaRPr sz="2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0" name="Shape 30"/>
          <p:cNvSpPr txBox="false"/>
          <p:nvPr isPhoto="false"/>
        </p:nvSpPr>
        <p:spPr>
          <a:xfrm flipH="false" flipV="false" rot="0">
            <a:off x="1508760" y="3017520"/>
            <a:ext cx="6858000" cy="27432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50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Las plantas, una por una</a:t>
            </a:r>
            <a:endParaRPr sz="15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1" name="Shape 31"/>
          <p:cNvSpPr txBox="false"/>
          <p:nvPr isPhoto="false"/>
        </p:nvSpPr>
        <p:spPr>
          <a:xfrm flipH="false" flipV="false" rot="0">
            <a:off x="1508760" y="3310128"/>
            <a:ext cx="6858000" cy="256032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i="true" sz="110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Boldo, cedrón, menta, manzanilla, hinojo, jengibre y otras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2" name="Shape 32"/>
          <p:cNvSpPr txBox="false"/>
          <p:nvPr isPhoto="false"/>
        </p:nvSpPr>
        <p:spPr>
          <a:xfrm flipH="false" flipV="false" rot="0">
            <a:off x="548640" y="3840480"/>
            <a:ext cx="8046719" cy="749808"/>
          </a:xfrm>
          <a:prstGeom prst="rect">
            <a:avLst/>
          </a:prstGeom>
          <a:solidFill>
            <a:srgbClr val="FFFFFF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3" name="Shape 33"/>
          <p:cNvSpPr txBox="false"/>
          <p:nvPr isPhoto="false"/>
        </p:nvSpPr>
        <p:spPr>
          <a:xfrm flipH="false" flipV="false" rot="0">
            <a:off x="548640" y="3840480"/>
            <a:ext cx="64008" cy="749808"/>
          </a:xfrm>
          <a:prstGeom prst="rect">
            <a:avLst/>
          </a:prstGeom>
          <a:solidFill>
            <a:srgbClr val="9B2335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4" name="Shape 34"/>
          <p:cNvSpPr txBox="false"/>
          <p:nvPr isPhoto="false"/>
        </p:nvSpPr>
        <p:spPr>
          <a:xfrm flipH="false" flipV="false" rot="0">
            <a:off x="777240" y="3950208"/>
            <a:ext cx="640080" cy="50292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2200">
                <a:solidFill>
                  <a:srgbClr val="9B2335"/>
                </a:solidFill>
                <a:latin typeface="Georgia"/>
                <a:ea typeface="Georgia"/>
                <a:cs typeface="Georgia"/>
              </a:rPr>
              <a:t>04</a:t>
            </a:r>
            <a:endParaRPr sz="2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5" name="Shape 35"/>
          <p:cNvSpPr txBox="false"/>
          <p:nvPr isPhoto="false"/>
        </p:nvSpPr>
        <p:spPr>
          <a:xfrm flipH="false" flipV="false" rot="0">
            <a:off x="1508760" y="3931920"/>
            <a:ext cx="6858000" cy="27432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50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Cómo usarlas y qué tener en cuenta</a:t>
            </a:r>
            <a:endParaRPr sz="15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6" name="Shape 36"/>
          <p:cNvSpPr txBox="false"/>
          <p:nvPr isPhoto="false"/>
        </p:nvSpPr>
        <p:spPr>
          <a:xfrm flipH="false" flipV="false" rot="0">
            <a:off x="1508760" y="4224528"/>
            <a:ext cx="6858000" cy="256032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i="true" sz="110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Preparaciones, dosis y precauciones básicas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3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bg>
      <p:bgPr>
        <a:solidFill>
          <a:srgbClr val="F9F6F0"/>
        </a:solidFill>
      </p:bgPr>
    </p:bg>
    <p:spTree>
      <p:nvGrpSpPr>
        <p:cNvPr hidden="false" id="37" name="GroupShape 3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38" name="Shape 38"/>
          <p:cNvSpPr txBox="false"/>
          <p:nvPr isPhoto="false"/>
        </p:nvSpPr>
        <p:spPr>
          <a:xfrm flipH="false" flipV="false" rot="0">
            <a:off x="548640" y="274320"/>
            <a:ext cx="8046719" cy="50291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3000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El sistema digestivo</a:t>
            </a:r>
            <a:endParaRPr sz="3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9" name="Shape 39"/>
          <p:cNvSpPr txBox="false"/>
          <p:nvPr isPhoto="false"/>
        </p:nvSpPr>
        <p:spPr>
          <a:xfrm flipH="false" flipV="false" rot="0">
            <a:off x="548640" y="777240"/>
            <a:ext cx="8046719" cy="32004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i="true" sz="130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Un recorrido en simple — de la boca al intestino grueso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0" name="Shape 40"/>
          <p:cNvSpPr txBox="false"/>
          <p:nvPr isPhoto="false"/>
        </p:nvSpPr>
        <p:spPr>
          <a:xfrm flipH="false" flipV="false" rot="0">
            <a:off x="548640" y="1417320"/>
            <a:ext cx="2377440" cy="1371600"/>
          </a:xfrm>
          <a:prstGeom prst="rect">
            <a:avLst/>
          </a:prstGeom>
          <a:solidFill>
            <a:srgbClr val="74B49B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1" name="Shape 41"/>
          <p:cNvSpPr txBox="false"/>
          <p:nvPr isPhoto="false"/>
        </p:nvSpPr>
        <p:spPr>
          <a:xfrm flipH="false" flipV="false" rot="0">
            <a:off x="548640" y="1581912"/>
            <a:ext cx="2377440" cy="36576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ctr" indent="0" marL="0"/>
            <a:r>
              <a:rPr b="true" sz="14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Boca</a:t>
            </a:r>
            <a:endParaRPr sz="14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2" name="Shape 42"/>
          <p:cNvSpPr txBox="false"/>
          <p:nvPr isPhoto="false"/>
        </p:nvSpPr>
        <p:spPr>
          <a:xfrm flipH="false" flipV="false" rot="0">
            <a:off x="640080" y="1965960"/>
            <a:ext cx="2194560" cy="640080"/>
          </a:xfrm>
          <a:prstGeom prst="rect">
            <a:avLst/>
          </a:prstGeom>
          <a:noFill/>
          <a:ln>
            <a:prstDash val="solid"/>
          </a:ln>
        </p:spPr>
        <p:txBody>
          <a:bodyPr anchor="t" bIns="45720" lIns="91440" rIns="91440" tIns="45720" wrap="square"/>
          <a:p>
            <a:pPr algn="ctr" indent="0" marL="0"/>
            <a:r>
              <a:rPr sz="11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Masticación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ctr" indent="0" marL="0"/>
            <a:r>
              <a:rPr sz="11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y amilasa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3" name="Shape 43"/>
          <p:cNvSpPr txBox="false"/>
          <p:nvPr isPhoto="false"/>
        </p:nvSpPr>
        <p:spPr>
          <a:xfrm flipH="false" flipV="false" rot="0">
            <a:off x="2944368" y="2039112"/>
            <a:ext cx="320040" cy="73151"/>
          </a:xfrm>
          <a:prstGeom prst="rect">
            <a:avLst/>
          </a:prstGeom>
          <a:solidFill>
            <a:srgbClr val="6B7280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4" name="Shape 44"/>
          <p:cNvSpPr txBox="false"/>
          <p:nvPr isPhoto="false"/>
        </p:nvSpPr>
        <p:spPr>
          <a:xfrm flipH="false" flipV="false" rot="0">
            <a:off x="3291840" y="1417320"/>
            <a:ext cx="2377440" cy="1371600"/>
          </a:xfrm>
          <a:prstGeom prst="rect">
            <a:avLst/>
          </a:prstGeom>
          <a:solidFill>
            <a:srgbClr val="2D6A4F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5" name="Shape 45"/>
          <p:cNvSpPr txBox="false"/>
          <p:nvPr isPhoto="false"/>
        </p:nvSpPr>
        <p:spPr>
          <a:xfrm flipH="false" flipV="false" rot="0">
            <a:off x="3291840" y="1581912"/>
            <a:ext cx="2377440" cy="36576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ctr" indent="0" marL="0"/>
            <a:r>
              <a:rPr b="true" sz="14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Estómago</a:t>
            </a:r>
            <a:endParaRPr sz="14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6" name="Shape 46"/>
          <p:cNvSpPr txBox="false"/>
          <p:nvPr isPhoto="false"/>
        </p:nvSpPr>
        <p:spPr>
          <a:xfrm flipH="false" flipV="false" rot="0">
            <a:off x="3383280" y="1965960"/>
            <a:ext cx="2194560" cy="640080"/>
          </a:xfrm>
          <a:prstGeom prst="rect">
            <a:avLst/>
          </a:prstGeom>
          <a:noFill/>
          <a:ln>
            <a:prstDash val="solid"/>
          </a:ln>
        </p:spPr>
        <p:txBody>
          <a:bodyPr anchor="t" bIns="45720" lIns="91440" rIns="91440" tIns="45720" wrap="square"/>
          <a:p>
            <a:pPr algn="ctr" indent="0" marL="0"/>
            <a:r>
              <a:rPr sz="11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Ácido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ctr" indent="0" marL="0"/>
            <a:r>
              <a:rPr sz="11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clorhídrico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7" name="Shape 47"/>
          <p:cNvSpPr txBox="false"/>
          <p:nvPr isPhoto="false"/>
        </p:nvSpPr>
        <p:spPr>
          <a:xfrm flipH="false" flipV="false" rot="0">
            <a:off x="5687568" y="2039112"/>
            <a:ext cx="320040" cy="73151"/>
          </a:xfrm>
          <a:prstGeom prst="rect">
            <a:avLst/>
          </a:prstGeom>
          <a:solidFill>
            <a:srgbClr val="6B7280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8" name="Shape 48"/>
          <p:cNvSpPr txBox="false"/>
          <p:nvPr isPhoto="false"/>
        </p:nvSpPr>
        <p:spPr>
          <a:xfrm flipH="false" flipV="false" rot="0">
            <a:off x="6035040" y="1417320"/>
            <a:ext cx="2377440" cy="1371600"/>
          </a:xfrm>
          <a:prstGeom prst="rect">
            <a:avLst/>
          </a:prstGeom>
          <a:solidFill>
            <a:srgbClr val="A67C52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9" name="Shape 49"/>
          <p:cNvSpPr txBox="false"/>
          <p:nvPr isPhoto="false"/>
        </p:nvSpPr>
        <p:spPr>
          <a:xfrm flipH="false" flipV="false" rot="0">
            <a:off x="6035040" y="1581912"/>
            <a:ext cx="2377440" cy="36576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ctr" indent="0" marL="0"/>
            <a:r>
              <a:rPr b="true" sz="14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Int. Delgado</a:t>
            </a:r>
            <a:endParaRPr sz="14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50" name="Shape 50"/>
          <p:cNvSpPr txBox="false"/>
          <p:nvPr isPhoto="false"/>
        </p:nvSpPr>
        <p:spPr>
          <a:xfrm flipH="false" flipV="false" rot="0">
            <a:off x="6126480" y="1965960"/>
            <a:ext cx="2194560" cy="640080"/>
          </a:xfrm>
          <a:prstGeom prst="rect">
            <a:avLst/>
          </a:prstGeom>
          <a:noFill/>
          <a:ln>
            <a:prstDash val="solid"/>
          </a:ln>
        </p:spPr>
        <p:txBody>
          <a:bodyPr anchor="t" bIns="45720" lIns="91440" rIns="91440" tIns="45720" wrap="square"/>
          <a:p>
            <a:pPr algn="ctr" indent="0" marL="0"/>
            <a:r>
              <a:rPr sz="11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Absorción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ctr" indent="0" marL="0"/>
            <a:r>
              <a:rPr sz="11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de nutrientes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51" name="Shape 51"/>
          <p:cNvSpPr txBox="false"/>
          <p:nvPr isPhoto="false"/>
        </p:nvSpPr>
        <p:spPr>
          <a:xfrm flipH="false" flipV="false" rot="0">
            <a:off x="548640" y="3108960"/>
            <a:ext cx="2377440" cy="1371599"/>
          </a:xfrm>
          <a:prstGeom prst="rect">
            <a:avLst/>
          </a:prstGeom>
          <a:solidFill>
            <a:srgbClr val="2D6A4F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52" name="Shape 52"/>
          <p:cNvSpPr txBox="false"/>
          <p:nvPr isPhoto="false"/>
        </p:nvSpPr>
        <p:spPr>
          <a:xfrm flipH="false" flipV="false" rot="0">
            <a:off x="548640" y="3273552"/>
            <a:ext cx="2377440" cy="36575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ctr" indent="0" marL="0"/>
            <a:r>
              <a:rPr b="true" sz="14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Int. Grueso</a:t>
            </a:r>
            <a:endParaRPr sz="14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53" name="Shape 53"/>
          <p:cNvSpPr txBox="false"/>
          <p:nvPr isPhoto="false"/>
        </p:nvSpPr>
        <p:spPr>
          <a:xfrm flipH="false" flipV="false" rot="0">
            <a:off x="640080" y="3657600"/>
            <a:ext cx="2194560" cy="640079"/>
          </a:xfrm>
          <a:prstGeom prst="rect">
            <a:avLst/>
          </a:prstGeom>
          <a:noFill/>
          <a:ln>
            <a:prstDash val="solid"/>
          </a:ln>
        </p:spPr>
        <p:txBody>
          <a:bodyPr anchor="t" bIns="45720" lIns="91440" rIns="91440" tIns="45720" wrap="square"/>
          <a:p>
            <a:pPr algn="ctr" indent="0" marL="0"/>
            <a:r>
              <a:rPr sz="11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Agua y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ctr" indent="0" marL="0"/>
            <a:r>
              <a:rPr sz="11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microbiota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54" name="Shape 54"/>
          <p:cNvSpPr txBox="false"/>
          <p:nvPr isPhoto="false"/>
        </p:nvSpPr>
        <p:spPr>
          <a:xfrm flipH="false" flipV="false" rot="0">
            <a:off x="2944368" y="3730752"/>
            <a:ext cx="320040" cy="73152"/>
          </a:xfrm>
          <a:prstGeom prst="rect">
            <a:avLst/>
          </a:prstGeom>
          <a:solidFill>
            <a:srgbClr val="6B7280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55" name="Shape 55"/>
          <p:cNvSpPr txBox="false"/>
          <p:nvPr isPhoto="false"/>
        </p:nvSpPr>
        <p:spPr>
          <a:xfrm flipH="false" flipV="false" rot="0">
            <a:off x="3291840" y="3108960"/>
            <a:ext cx="2377440" cy="1371599"/>
          </a:xfrm>
          <a:prstGeom prst="rect">
            <a:avLst/>
          </a:prstGeom>
          <a:solidFill>
            <a:srgbClr val="1B4332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56" name="Shape 56"/>
          <p:cNvSpPr txBox="false"/>
          <p:nvPr isPhoto="false"/>
        </p:nvSpPr>
        <p:spPr>
          <a:xfrm flipH="false" flipV="false" rot="0">
            <a:off x="3291840" y="3273552"/>
            <a:ext cx="2377440" cy="36575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ctr" indent="0" marL="0"/>
            <a:r>
              <a:rPr b="true" sz="14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Hígado</a:t>
            </a:r>
            <a:endParaRPr sz="14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57" name="Shape 57"/>
          <p:cNvSpPr txBox="false"/>
          <p:nvPr isPhoto="false"/>
        </p:nvSpPr>
        <p:spPr>
          <a:xfrm flipH="false" flipV="false" rot="0">
            <a:off x="3383280" y="3657600"/>
            <a:ext cx="2194560" cy="640079"/>
          </a:xfrm>
          <a:prstGeom prst="rect">
            <a:avLst/>
          </a:prstGeom>
          <a:noFill/>
          <a:ln>
            <a:prstDash val="solid"/>
          </a:ln>
        </p:spPr>
        <p:txBody>
          <a:bodyPr anchor="t" bIns="45720" lIns="91440" rIns="91440" tIns="45720" wrap="square"/>
          <a:p>
            <a:pPr algn="ctr" indent="0" marL="0"/>
            <a:r>
              <a:rPr sz="11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Bilis y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ctr" indent="0" marL="0"/>
            <a:r>
              <a:rPr sz="11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Eliminación de toxinas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58" name="Shape 58"/>
          <p:cNvSpPr txBox="false"/>
          <p:nvPr isPhoto="false"/>
        </p:nvSpPr>
        <p:spPr>
          <a:xfrm flipH="false" flipV="false" rot="0">
            <a:off x="5687568" y="3730752"/>
            <a:ext cx="320040" cy="73152"/>
          </a:xfrm>
          <a:prstGeom prst="rect">
            <a:avLst/>
          </a:prstGeom>
          <a:solidFill>
            <a:srgbClr val="6B7280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59" name="Shape 59"/>
          <p:cNvSpPr txBox="false"/>
          <p:nvPr isPhoto="false"/>
        </p:nvSpPr>
        <p:spPr>
          <a:xfrm flipH="false" flipV="false" rot="0">
            <a:off x="6035040" y="3108960"/>
            <a:ext cx="2377440" cy="1371599"/>
          </a:xfrm>
          <a:prstGeom prst="rect">
            <a:avLst/>
          </a:prstGeom>
          <a:solidFill>
            <a:srgbClr val="A67C52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60" name="Shape 60"/>
          <p:cNvSpPr txBox="false"/>
          <p:nvPr isPhoto="false"/>
        </p:nvSpPr>
        <p:spPr>
          <a:xfrm flipH="false" flipV="false" rot="0">
            <a:off x="6035040" y="3273552"/>
            <a:ext cx="2377440" cy="36575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ctr" indent="0" marL="0"/>
            <a:r>
              <a:rPr b="true" sz="14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Vesícula</a:t>
            </a:r>
            <a:endParaRPr sz="14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61" name="Shape 61"/>
          <p:cNvSpPr txBox="false"/>
          <p:nvPr isPhoto="false"/>
        </p:nvSpPr>
        <p:spPr>
          <a:xfrm flipH="false" flipV="false" rot="0">
            <a:off x="6126480" y="3657600"/>
            <a:ext cx="2194560" cy="640079"/>
          </a:xfrm>
          <a:prstGeom prst="rect">
            <a:avLst/>
          </a:prstGeom>
          <a:noFill/>
          <a:ln>
            <a:prstDash val="solid"/>
          </a:ln>
        </p:spPr>
        <p:txBody>
          <a:bodyPr anchor="t" bIns="45720" lIns="91440" rIns="91440" tIns="45720" wrap="square"/>
          <a:p>
            <a:pPr algn="ctr" indent="0" marL="0"/>
            <a:r>
              <a:rPr sz="11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Almacena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ctr" indent="0" marL="0"/>
            <a:r>
              <a:rPr sz="11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la bilis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62" name="Shape 62"/>
          <p:cNvSpPr txBox="false"/>
          <p:nvPr isPhoto="false"/>
        </p:nvSpPr>
        <p:spPr>
          <a:xfrm flipH="false" flipV="false" rot="0">
            <a:off x="548640" y="4663440"/>
            <a:ext cx="8046719" cy="347471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i="true" sz="1100">
                <a:solidFill>
                  <a:srgbClr val="2D6A4F"/>
                </a:solidFill>
                <a:latin typeface="+mn-lt"/>
                <a:ea typeface="+mn-ea"/>
                <a:cs typeface="+mn-cs"/>
              </a:rPr>
              <a:t>💡  La mayoría de las plantas medicinales digestivas actúan en el estómago, el intestino o el hígado/vesícula</a:t>
            </a:r>
            <a:endParaRPr b="true"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4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bg>
      <p:bgPr>
        <a:solidFill>
          <a:srgbClr val="F9F6F0"/>
        </a:solidFill>
      </p:bgPr>
    </p:bg>
    <p:spTree>
      <p:nvGrpSpPr>
        <p:cNvPr hidden="false" id="63" name="GroupShape 63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64" name="Shape 64"/>
          <p:cNvSpPr txBox="false"/>
          <p:nvPr isPhoto="false"/>
        </p:nvSpPr>
        <p:spPr>
          <a:xfrm flipH="false" flipV="false" rot="0">
            <a:off x="548640" y="274320"/>
            <a:ext cx="8046719" cy="50291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3000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El sistema digestivo</a:t>
            </a:r>
            <a:endParaRPr sz="3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hidden="false" id="66" name="Picture 66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3126822" y="777240"/>
            <a:ext cx="2890355" cy="4178972"/>
          </a:xfrm>
          <a:prstGeom prst="rect">
            <a:avLst/>
          </a:prstGeom>
        </p:spPr>
      </p:pic>
    </p:spTree>
  </p:cSld>
</p:sld>
</file>

<file path=ppt/slides/slide5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bg>
      <p:bgPr>
        <a:solidFill>
          <a:srgbClr val="1B4332"/>
        </a:solidFill>
      </p:bgPr>
    </p:bg>
    <p:spTree>
      <p:nvGrpSpPr>
        <p:cNvPr hidden="false" id="67" name="GroupShape 6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68" name="Shape 68"/>
          <p:cNvSpPr txBox="false"/>
          <p:nvPr isPhoto="false"/>
        </p:nvSpPr>
        <p:spPr>
          <a:xfrm flipH="false" flipV="false" rot="0">
            <a:off x="548640" y="274320"/>
            <a:ext cx="8046719" cy="54864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300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Categorías de acción</a:t>
            </a:r>
            <a:endParaRPr sz="3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69" name="Shape 69"/>
          <p:cNvSpPr txBox="false"/>
          <p:nvPr isPhoto="false"/>
        </p:nvSpPr>
        <p:spPr>
          <a:xfrm flipH="false" flipV="false" rot="0">
            <a:off x="548640" y="804672"/>
            <a:ext cx="8046719" cy="32003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i="true" sz="1300">
                <a:solidFill>
                  <a:srgbClr val="B7DFCF"/>
                </a:solidFill>
                <a:latin typeface="+mn-lt"/>
                <a:ea typeface="+mn-ea"/>
                <a:cs typeface="+mn-cs"/>
              </a:rPr>
              <a:t>Las plantas no actúan todas igual — cada una tiene un mecanismo específico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70" name="Shape 70"/>
          <p:cNvSpPr txBox="false"/>
          <p:nvPr isPhoto="false"/>
        </p:nvSpPr>
        <p:spPr>
          <a:xfrm flipH="false" flipV="false" rot="0">
            <a:off x="457200" y="1417320"/>
            <a:ext cx="4023359" cy="91440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71" name="Shape 71"/>
          <p:cNvSpPr txBox="false"/>
          <p:nvPr isPhoto="false"/>
        </p:nvSpPr>
        <p:spPr>
          <a:xfrm flipH="false" flipV="false" rot="0">
            <a:off x="457200" y="1417320"/>
            <a:ext cx="64008" cy="914400"/>
          </a:xfrm>
          <a:prstGeom prst="rect">
            <a:avLst/>
          </a:prstGeom>
          <a:solidFill>
            <a:srgbClr val="74B49B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72" name="Shape 72"/>
          <p:cNvSpPr txBox="false"/>
          <p:nvPr isPhoto="false"/>
        </p:nvSpPr>
        <p:spPr>
          <a:xfrm flipH="false" flipV="false" rot="0">
            <a:off x="640080" y="1508760"/>
            <a:ext cx="3794759" cy="32003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3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Colagogas / Coleréticas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73" name="Shape 73"/>
          <p:cNvSpPr txBox="false"/>
          <p:nvPr isPhoto="false"/>
        </p:nvSpPr>
        <p:spPr>
          <a:xfrm flipH="false" flipV="false" rot="0">
            <a:off x="640080" y="1856232"/>
            <a:ext cx="3794759" cy="347472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100">
                <a:solidFill>
                  <a:srgbClr val="B7DFCF"/>
                </a:solidFill>
                <a:latin typeface="+mn-lt"/>
                <a:ea typeface="+mn-ea"/>
                <a:cs typeface="+mn-cs"/>
              </a:rPr>
              <a:t>Estimulan la producción o el flujo de bilis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74" name="Shape 74"/>
          <p:cNvSpPr txBox="false"/>
          <p:nvPr isPhoto="false"/>
        </p:nvSpPr>
        <p:spPr>
          <a:xfrm flipH="false" flipV="false" rot="0">
            <a:off x="457200" y="2532888"/>
            <a:ext cx="4023359" cy="91440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75" name="Shape 75"/>
          <p:cNvSpPr txBox="false"/>
          <p:nvPr isPhoto="false"/>
        </p:nvSpPr>
        <p:spPr>
          <a:xfrm flipH="false" flipV="false" rot="0">
            <a:off x="457200" y="2532888"/>
            <a:ext cx="64008" cy="914400"/>
          </a:xfrm>
          <a:prstGeom prst="rect">
            <a:avLst/>
          </a:prstGeom>
          <a:solidFill>
            <a:srgbClr val="A67C52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76" name="Shape 76"/>
          <p:cNvSpPr txBox="false"/>
          <p:nvPr isPhoto="false"/>
        </p:nvSpPr>
        <p:spPr>
          <a:xfrm flipH="false" flipV="false" rot="0">
            <a:off x="640080" y="2624328"/>
            <a:ext cx="3794759" cy="32003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3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Antiespasmódicas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77" name="Shape 77"/>
          <p:cNvSpPr txBox="false"/>
          <p:nvPr isPhoto="false"/>
        </p:nvSpPr>
        <p:spPr>
          <a:xfrm flipH="false" flipV="false" rot="0">
            <a:off x="640080" y="2971800"/>
            <a:ext cx="3794759" cy="347471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100">
                <a:solidFill>
                  <a:srgbClr val="B7DFCF"/>
                </a:solidFill>
                <a:latin typeface="+mn-lt"/>
                <a:ea typeface="+mn-ea"/>
                <a:cs typeface="+mn-cs"/>
              </a:rPr>
              <a:t>Relajan la musculatura del tubo digestivo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78" name="Shape 78"/>
          <p:cNvSpPr txBox="false"/>
          <p:nvPr isPhoto="false"/>
        </p:nvSpPr>
        <p:spPr>
          <a:xfrm flipH="false" flipV="false" rot="0">
            <a:off x="457200" y="3648456"/>
            <a:ext cx="4023359" cy="91440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79" name="Shape 79"/>
          <p:cNvSpPr txBox="false"/>
          <p:nvPr isPhoto="false"/>
        </p:nvSpPr>
        <p:spPr>
          <a:xfrm flipH="false" flipV="false" rot="0">
            <a:off x="457200" y="3648456"/>
            <a:ext cx="64008" cy="914400"/>
          </a:xfrm>
          <a:prstGeom prst="rect">
            <a:avLst/>
          </a:prstGeom>
          <a:solidFill>
            <a:srgbClr val="2D6A4F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0" name="Shape 80"/>
          <p:cNvSpPr txBox="false"/>
          <p:nvPr isPhoto="false"/>
        </p:nvSpPr>
        <p:spPr>
          <a:xfrm flipH="false" flipV="false" rot="0">
            <a:off x="640080" y="3739896"/>
            <a:ext cx="3794759" cy="32004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3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Carminativas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1" name="Shape 81"/>
          <p:cNvSpPr txBox="false"/>
          <p:nvPr isPhoto="false"/>
        </p:nvSpPr>
        <p:spPr>
          <a:xfrm flipH="false" flipV="false" rot="0">
            <a:off x="640080" y="4087368"/>
            <a:ext cx="3794759" cy="347472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100">
                <a:solidFill>
                  <a:srgbClr val="B7DFCF"/>
                </a:solidFill>
                <a:latin typeface="+mn-lt"/>
                <a:ea typeface="+mn-ea"/>
                <a:cs typeface="+mn-cs"/>
              </a:rPr>
              <a:t>Favorecen la eliminación de gases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2" name="Shape 82"/>
          <p:cNvSpPr txBox="false"/>
          <p:nvPr isPhoto="false"/>
        </p:nvSpPr>
        <p:spPr>
          <a:xfrm flipH="false" flipV="false" rot="0">
            <a:off x="4846320" y="1417320"/>
            <a:ext cx="4023360" cy="91440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3" name="Shape 83"/>
          <p:cNvSpPr txBox="false"/>
          <p:nvPr isPhoto="false"/>
        </p:nvSpPr>
        <p:spPr>
          <a:xfrm flipH="false" flipV="false" rot="0">
            <a:off x="4846320" y="1417320"/>
            <a:ext cx="64008" cy="914400"/>
          </a:xfrm>
          <a:prstGeom prst="rect">
            <a:avLst/>
          </a:prstGeom>
          <a:solidFill>
            <a:srgbClr val="F4A261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4" name="Shape 84"/>
          <p:cNvSpPr txBox="false"/>
          <p:nvPr isPhoto="false"/>
        </p:nvSpPr>
        <p:spPr>
          <a:xfrm flipH="false" flipV="false" rot="0">
            <a:off x="5029200" y="1508760"/>
            <a:ext cx="3794759" cy="32003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3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Digestivas / Amargas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5" name="Shape 85"/>
          <p:cNvSpPr txBox="false"/>
          <p:nvPr isPhoto="false"/>
        </p:nvSpPr>
        <p:spPr>
          <a:xfrm flipH="false" flipV="false" rot="0">
            <a:off x="5029200" y="1856232"/>
            <a:ext cx="3794759" cy="347472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100">
                <a:solidFill>
                  <a:srgbClr val="B7DFCF"/>
                </a:solidFill>
                <a:latin typeface="+mn-lt"/>
                <a:ea typeface="+mn-ea"/>
                <a:cs typeface="+mn-cs"/>
              </a:rPr>
              <a:t>Estimulan la secreción digestiva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6" name="Shape 86"/>
          <p:cNvSpPr txBox="false"/>
          <p:nvPr isPhoto="false"/>
        </p:nvSpPr>
        <p:spPr>
          <a:xfrm flipH="false" flipV="false" rot="0">
            <a:off x="4846320" y="2532888"/>
            <a:ext cx="4023360" cy="91440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7" name="Shape 87"/>
          <p:cNvSpPr txBox="false"/>
          <p:nvPr isPhoto="false"/>
        </p:nvSpPr>
        <p:spPr>
          <a:xfrm flipH="false" flipV="false" rot="0">
            <a:off x="4846320" y="2532888"/>
            <a:ext cx="64008" cy="914400"/>
          </a:xfrm>
          <a:prstGeom prst="rect">
            <a:avLst/>
          </a:prstGeom>
          <a:solidFill>
            <a:srgbClr val="9B2335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8" name="Shape 88"/>
          <p:cNvSpPr txBox="false"/>
          <p:nvPr isPhoto="false"/>
        </p:nvSpPr>
        <p:spPr>
          <a:xfrm flipH="false" flipV="false" rot="0">
            <a:off x="5029200" y="2624328"/>
            <a:ext cx="3794759" cy="32003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3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Antiinflamatorias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9" name="Shape 89"/>
          <p:cNvSpPr txBox="false"/>
          <p:nvPr isPhoto="false"/>
        </p:nvSpPr>
        <p:spPr>
          <a:xfrm flipH="false" flipV="false" rot="0">
            <a:off x="5029200" y="2971800"/>
            <a:ext cx="3794759" cy="347471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100">
                <a:solidFill>
                  <a:srgbClr val="B7DFCF"/>
                </a:solidFill>
                <a:latin typeface="+mn-lt"/>
                <a:ea typeface="+mn-ea"/>
                <a:cs typeface="+mn-cs"/>
              </a:rPr>
              <a:t>Protegen y calman la mucosa digestiva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6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90" name="GroupShape 90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91" name="Shape 91"/>
          <p:cNvSpPr txBox="false"/>
          <p:nvPr isPhoto="false"/>
        </p:nvSpPr>
        <p:spPr>
          <a:xfrm flipH="false" flipV="false" rot="0">
            <a:off x="0" y="0"/>
            <a:ext cx="9144000" cy="1051560"/>
          </a:xfrm>
          <a:prstGeom prst="rect">
            <a:avLst/>
          </a:prstGeom>
          <a:solidFill>
            <a:srgbClr val="74B49B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2" name="Shape 92"/>
          <p:cNvSpPr txBox="false"/>
          <p:nvPr isPhoto="false"/>
        </p:nvSpPr>
        <p:spPr>
          <a:xfrm flipH="false" flipV="false" rot="0">
            <a:off x="457200" y="91440"/>
            <a:ext cx="7772400" cy="50291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240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Colagogas y Coleréticas</a:t>
            </a:r>
            <a:endParaRPr sz="24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3" name="Shape 93"/>
          <p:cNvSpPr txBox="false"/>
          <p:nvPr isPhoto="false"/>
        </p:nvSpPr>
        <p:spPr>
          <a:xfrm flipH="false" flipV="false" rot="0">
            <a:off x="457200" y="594360"/>
            <a:ext cx="6858000" cy="347472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i="true" sz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Actúan sobre el hígado y la vesícula biliar</a:t>
            </a:r>
            <a:endParaRPr sz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4" name="Shape 94"/>
          <p:cNvSpPr txBox="false"/>
          <p:nvPr isPhoto="false"/>
        </p:nvSpPr>
        <p:spPr>
          <a:xfrm flipH="false" flipV="false" rot="0">
            <a:off x="6858000" y="338328"/>
            <a:ext cx="2011680" cy="274319"/>
          </a:xfrm>
          <a:prstGeom prst="roundRect">
            <a:avLst>
              <a:gd fmla="val 16667" name="adj"/>
            </a:avLst>
          </a:prstGeom>
          <a:solidFill>
            <a:srgbClr val="FFFFFF">
              <a:alpha val="30000"/>
            </a:srgbClr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5" name="Shape 95"/>
          <p:cNvSpPr txBox="false"/>
          <p:nvPr isPhoto="false"/>
        </p:nvSpPr>
        <p:spPr>
          <a:xfrm flipH="false" flipV="false" rot="0">
            <a:off x="6858000" y="338328"/>
            <a:ext cx="2011680" cy="274319"/>
          </a:xfrm>
          <a:prstGeom prst="rect">
            <a:avLst/>
          </a:prstGeom>
          <a:noFill/>
          <a:ln>
            <a:prstDash val="solid"/>
          </a:ln>
        </p:spPr>
        <p:txBody>
          <a:bodyPr anchor="ctr" bIns="0" lIns="0" rIns="0" tIns="0" wrap="square"/>
          <a:p>
            <a:pPr algn="ctr" indent="0" marL="0"/>
            <a:r>
              <a:rPr b="true" sz="9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📍 Hígado · Vesícula biliar</a:t>
            </a:r>
            <a:endParaRPr sz="9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6" name="Shape 96"/>
          <p:cNvSpPr txBox="false"/>
          <p:nvPr isPhoto="false"/>
        </p:nvSpPr>
        <p:spPr>
          <a:xfrm flipH="false" flipV="false" rot="0">
            <a:off x="457200" y="1188720"/>
            <a:ext cx="8229600" cy="658368"/>
          </a:xfrm>
          <a:prstGeom prst="rect">
            <a:avLst/>
          </a:prstGeom>
          <a:solidFill>
            <a:srgbClr val="74B49B">
              <a:alpha val="12000"/>
            </a:srgbClr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7" name="Shape 97"/>
          <p:cNvSpPr txBox="false"/>
          <p:nvPr isPhoto="false"/>
        </p:nvSpPr>
        <p:spPr>
          <a:xfrm flipH="false" flipV="false" rot="0">
            <a:off x="640080" y="1216152"/>
            <a:ext cx="1783079" cy="256031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100">
                <a:solidFill>
                  <a:srgbClr val="74B49B"/>
                </a:solidFill>
                <a:latin typeface="+mn-lt"/>
                <a:ea typeface="+mn-ea"/>
                <a:cs typeface="+mn-cs"/>
              </a:rPr>
              <a:t>Mecanismo de acción: 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8" name="Shape 98"/>
          <p:cNvSpPr txBox="false"/>
          <p:nvPr isPhoto="false"/>
        </p:nvSpPr>
        <p:spPr>
          <a:xfrm flipH="false" flipV="false" rot="0">
            <a:off x="640080" y="1463040"/>
            <a:ext cx="7863840" cy="347472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05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Aumentan la producción de bilis (colerético) o estimulan su liberación hacia el intestino (colagogo). Mejoran la digestión de grasas y el drenaje hepático.</a:t>
            </a:r>
            <a:endParaRPr sz="10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9" name="Shape 99"/>
          <p:cNvSpPr txBox="false"/>
          <p:nvPr isPhoto="false"/>
        </p:nvSpPr>
        <p:spPr>
          <a:xfrm flipH="false" flipV="false" rot="0">
            <a:off x="457200" y="2011679"/>
            <a:ext cx="8229600" cy="301751"/>
          </a:xfrm>
          <a:prstGeom prst="rect">
            <a:avLst/>
          </a:prstGeom>
          <a:solidFill>
            <a:srgbClr val="74B49B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0" name="Shape 100"/>
          <p:cNvSpPr txBox="false"/>
          <p:nvPr isPhoto="false"/>
        </p:nvSpPr>
        <p:spPr>
          <a:xfrm flipH="false" flipV="false" rot="0">
            <a:off x="548640" y="2011679"/>
            <a:ext cx="2103120" cy="301751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Planta / Nombre científico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1" name="Shape 101"/>
          <p:cNvSpPr txBox="false"/>
          <p:nvPr isPhoto="false"/>
        </p:nvSpPr>
        <p:spPr>
          <a:xfrm flipH="false" flipV="false" rot="0">
            <a:off x="2651760" y="2011679"/>
            <a:ext cx="1828799" cy="301751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Comp. activo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2" name="Shape 102"/>
          <p:cNvSpPr txBox="false"/>
          <p:nvPr isPhoto="false"/>
        </p:nvSpPr>
        <p:spPr>
          <a:xfrm flipH="false" flipV="false" rot="0">
            <a:off x="4480560" y="2011679"/>
            <a:ext cx="2423159" cy="301751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Indicación principal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3" name="Shape 103"/>
          <p:cNvSpPr txBox="false"/>
          <p:nvPr isPhoto="false"/>
        </p:nvSpPr>
        <p:spPr>
          <a:xfrm flipH="false" flipV="false" rot="0">
            <a:off x="6903719" y="2011679"/>
            <a:ext cx="1737359" cy="301751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Forma de uso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4" name="Shape 104"/>
          <p:cNvSpPr txBox="false"/>
          <p:nvPr isPhoto="false"/>
        </p:nvSpPr>
        <p:spPr>
          <a:xfrm flipH="false" flipV="false" rot="0">
            <a:off x="457200" y="2331720"/>
            <a:ext cx="8229600" cy="566928"/>
          </a:xfrm>
          <a:prstGeom prst="rect">
            <a:avLst/>
          </a:prstGeom>
          <a:solidFill>
            <a:srgbClr val="FFFFFF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5" name="Shape 105"/>
          <p:cNvSpPr txBox="false"/>
          <p:nvPr isPhoto="false"/>
        </p:nvSpPr>
        <p:spPr>
          <a:xfrm flipH="false" flipV="false" rot="0">
            <a:off x="594360" y="2386584"/>
            <a:ext cx="2011679" cy="237744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200">
                <a:solidFill>
                  <a:srgbClr val="1B4332"/>
                </a:solidFill>
                <a:latin typeface="+mn-lt"/>
                <a:ea typeface="+mn-ea"/>
                <a:cs typeface="+mn-cs"/>
              </a:rPr>
              <a:t>Boldo</a:t>
            </a:r>
            <a:endParaRPr sz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6" name="Shape 106"/>
          <p:cNvSpPr txBox="false"/>
          <p:nvPr isPhoto="false"/>
        </p:nvSpPr>
        <p:spPr>
          <a:xfrm flipH="false" flipV="false" rot="0">
            <a:off x="594360" y="2633472"/>
            <a:ext cx="2011679" cy="201167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i="true" sz="90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Peumus boldus</a:t>
            </a:r>
            <a:endParaRPr sz="9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7" name="Shape 107"/>
          <p:cNvSpPr txBox="false"/>
          <p:nvPr isPhoto="false"/>
        </p:nvSpPr>
        <p:spPr>
          <a:xfrm flipH="false" flipV="false" rot="0">
            <a:off x="2651760" y="2423160"/>
            <a:ext cx="1783080" cy="41148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950">
                <a:solidFill>
                  <a:srgbClr val="74B49B"/>
                </a:solidFill>
                <a:latin typeface="+mn-lt"/>
                <a:ea typeface="+mn-ea"/>
                <a:cs typeface="+mn-cs"/>
              </a:rPr>
              <a:t>Boldina (alcaloide)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8" name="Shape 108"/>
          <p:cNvSpPr txBox="false"/>
          <p:nvPr isPhoto="false"/>
        </p:nvSpPr>
        <p:spPr>
          <a:xfrm flipH="false" flipV="false" rot="0">
            <a:off x="4480560" y="2423160"/>
            <a:ext cx="2377440" cy="41148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00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Dispepsia, cálculos biliares leves, digestión pesada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9" name="Shape 109"/>
          <p:cNvSpPr txBox="false"/>
          <p:nvPr isPhoto="false"/>
        </p:nvSpPr>
        <p:spPr>
          <a:xfrm flipH="false" flipV="false" rot="0">
            <a:off x="6903719" y="2423160"/>
            <a:ext cx="1691640" cy="41148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A67C52"/>
                </a:solidFill>
                <a:latin typeface="+mn-lt"/>
                <a:ea typeface="+mn-ea"/>
                <a:cs typeface="+mn-cs"/>
              </a:rPr>
              <a:t>Infusión de hojas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0" name="Shape 110"/>
          <p:cNvSpPr txBox="false"/>
          <p:nvPr isPhoto="false"/>
        </p:nvSpPr>
        <p:spPr>
          <a:xfrm flipH="false" flipV="false" rot="0">
            <a:off x="457200" y="2907792"/>
            <a:ext cx="8229600" cy="566928"/>
          </a:xfrm>
          <a:prstGeom prst="rect">
            <a:avLst/>
          </a:prstGeom>
          <a:solidFill>
            <a:srgbClr val="F0E6D6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1" name="Shape 111"/>
          <p:cNvSpPr txBox="false"/>
          <p:nvPr isPhoto="false"/>
        </p:nvSpPr>
        <p:spPr>
          <a:xfrm flipH="false" flipV="false" rot="0">
            <a:off x="594360" y="2962656"/>
            <a:ext cx="2011679" cy="237744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200">
                <a:solidFill>
                  <a:srgbClr val="1B4332"/>
                </a:solidFill>
                <a:latin typeface="+mn-lt"/>
                <a:ea typeface="+mn-ea"/>
                <a:cs typeface="+mn-cs"/>
              </a:rPr>
              <a:t>Alcaucil</a:t>
            </a:r>
            <a:endParaRPr sz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2" name="Shape 112"/>
          <p:cNvSpPr txBox="false"/>
          <p:nvPr isPhoto="false"/>
        </p:nvSpPr>
        <p:spPr>
          <a:xfrm flipH="false" flipV="false" rot="0">
            <a:off x="594360" y="3209544"/>
            <a:ext cx="2011679" cy="201167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i="true" sz="90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Cynara scolymus</a:t>
            </a:r>
            <a:endParaRPr sz="9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3" name="Shape 113"/>
          <p:cNvSpPr txBox="false"/>
          <p:nvPr isPhoto="false"/>
        </p:nvSpPr>
        <p:spPr>
          <a:xfrm flipH="false" flipV="false" rot="0">
            <a:off x="2651760" y="2999232"/>
            <a:ext cx="1783080" cy="41147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950">
                <a:solidFill>
                  <a:srgbClr val="74B49B"/>
                </a:solidFill>
                <a:latin typeface="+mn-lt"/>
                <a:ea typeface="+mn-ea"/>
                <a:cs typeface="+mn-cs"/>
              </a:rPr>
              <a:t>Cinarina (ácido fenólico)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4" name="Shape 114"/>
          <p:cNvSpPr txBox="false"/>
          <p:nvPr isPhoto="false"/>
        </p:nvSpPr>
        <p:spPr>
          <a:xfrm flipH="false" flipV="false" rot="0">
            <a:off x="4480560" y="2999232"/>
            <a:ext cx="2377440" cy="41147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00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Hígado graso, colesterol, digestión lenta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5" name="Shape 115"/>
          <p:cNvSpPr txBox="false"/>
          <p:nvPr isPhoto="false"/>
        </p:nvSpPr>
        <p:spPr>
          <a:xfrm flipH="false" flipV="false" rot="0">
            <a:off x="6903719" y="2999232"/>
            <a:ext cx="1691640" cy="41147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A67C52"/>
                </a:solidFill>
                <a:latin typeface="+mn-lt"/>
                <a:ea typeface="+mn-ea"/>
                <a:cs typeface="+mn-cs"/>
              </a:rPr>
              <a:t>Extracto, infusión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6" name="Shape 116"/>
          <p:cNvSpPr txBox="false"/>
          <p:nvPr isPhoto="false"/>
        </p:nvSpPr>
        <p:spPr>
          <a:xfrm flipH="false" flipV="false" rot="0">
            <a:off x="457200" y="3483864"/>
            <a:ext cx="8229600" cy="566928"/>
          </a:xfrm>
          <a:prstGeom prst="rect">
            <a:avLst/>
          </a:prstGeom>
          <a:solidFill>
            <a:srgbClr val="FFFFFF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7" name="Shape 117"/>
          <p:cNvSpPr txBox="false"/>
          <p:nvPr isPhoto="false"/>
        </p:nvSpPr>
        <p:spPr>
          <a:xfrm flipH="false" flipV="false" rot="0">
            <a:off x="594360" y="3538728"/>
            <a:ext cx="2011679" cy="237744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200">
                <a:solidFill>
                  <a:srgbClr val="1B4332"/>
                </a:solidFill>
                <a:latin typeface="+mn-lt"/>
                <a:ea typeface="+mn-ea"/>
                <a:cs typeface="+mn-cs"/>
              </a:rPr>
              <a:t>Cardo mariano</a:t>
            </a:r>
            <a:endParaRPr sz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8" name="Shape 118"/>
          <p:cNvSpPr txBox="false"/>
          <p:nvPr isPhoto="false"/>
        </p:nvSpPr>
        <p:spPr>
          <a:xfrm flipH="false" flipV="false" rot="0">
            <a:off x="594360" y="3785615"/>
            <a:ext cx="2011679" cy="201167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i="true" sz="90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Silybum marianum</a:t>
            </a:r>
            <a:endParaRPr sz="9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9" name="Shape 119"/>
          <p:cNvSpPr txBox="false"/>
          <p:nvPr isPhoto="false"/>
        </p:nvSpPr>
        <p:spPr>
          <a:xfrm flipH="false" flipV="false" rot="0">
            <a:off x="2651760" y="3575303"/>
            <a:ext cx="1783080" cy="41147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950">
                <a:solidFill>
                  <a:srgbClr val="74B49B"/>
                </a:solidFill>
                <a:latin typeface="+mn-lt"/>
                <a:ea typeface="+mn-ea"/>
                <a:cs typeface="+mn-cs"/>
              </a:rPr>
              <a:t>Silimarina (flavonolignano)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0" name="Shape 120"/>
          <p:cNvSpPr txBox="false"/>
          <p:nvPr isPhoto="false"/>
        </p:nvSpPr>
        <p:spPr>
          <a:xfrm flipH="false" flipV="false" rot="0">
            <a:off x="4480560" y="3575303"/>
            <a:ext cx="2377440" cy="41147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00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Protección hepatocelular, cirrosis leve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1" name="Shape 121"/>
          <p:cNvSpPr txBox="false"/>
          <p:nvPr isPhoto="false"/>
        </p:nvSpPr>
        <p:spPr>
          <a:xfrm flipH="false" flipV="false" rot="0">
            <a:off x="6903719" y="3575303"/>
            <a:ext cx="1691640" cy="41147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A67C52"/>
                </a:solidFill>
                <a:latin typeface="+mn-lt"/>
                <a:ea typeface="+mn-ea"/>
                <a:cs typeface="+mn-cs"/>
              </a:rPr>
              <a:t>Cápsulas, tintura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2" name="Shape 122"/>
          <p:cNvSpPr txBox="false"/>
          <p:nvPr isPhoto="false"/>
        </p:nvSpPr>
        <p:spPr>
          <a:xfrm flipH="false" flipV="false" rot="0">
            <a:off x="457200" y="4059936"/>
            <a:ext cx="8229600" cy="566928"/>
          </a:xfrm>
          <a:prstGeom prst="rect">
            <a:avLst/>
          </a:prstGeom>
          <a:solidFill>
            <a:srgbClr val="F0E6D6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3" name="Shape 123"/>
          <p:cNvSpPr txBox="false"/>
          <p:nvPr isPhoto="false"/>
        </p:nvSpPr>
        <p:spPr>
          <a:xfrm flipH="false" flipV="false" rot="0">
            <a:off x="594360" y="4114800"/>
            <a:ext cx="2011679" cy="237744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200">
                <a:solidFill>
                  <a:srgbClr val="1B4332"/>
                </a:solidFill>
                <a:latin typeface="+mn-lt"/>
                <a:ea typeface="+mn-ea"/>
                <a:cs typeface="+mn-cs"/>
              </a:rPr>
              <a:t>Diente de león</a:t>
            </a:r>
            <a:endParaRPr sz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4" name="Shape 124"/>
          <p:cNvSpPr txBox="false"/>
          <p:nvPr isPhoto="false"/>
        </p:nvSpPr>
        <p:spPr>
          <a:xfrm flipH="false" flipV="false" rot="0">
            <a:off x="594360" y="4361688"/>
            <a:ext cx="2011679" cy="201167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i="true" sz="90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Taraxacum officinale</a:t>
            </a:r>
            <a:endParaRPr sz="9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5" name="Shape 125"/>
          <p:cNvSpPr txBox="false"/>
          <p:nvPr isPhoto="false"/>
        </p:nvSpPr>
        <p:spPr>
          <a:xfrm flipH="false" flipV="false" rot="0">
            <a:off x="2651760" y="4151376"/>
            <a:ext cx="1783080" cy="41147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950">
                <a:solidFill>
                  <a:srgbClr val="74B49B"/>
                </a:solidFill>
                <a:latin typeface="+mn-lt"/>
                <a:ea typeface="+mn-ea"/>
                <a:cs typeface="+mn-cs"/>
              </a:rPr>
              <a:t>Taraxacina (sesquiterpeno amargo)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6" name="Shape 126"/>
          <p:cNvSpPr txBox="false"/>
          <p:nvPr isPhoto="false"/>
        </p:nvSpPr>
        <p:spPr>
          <a:xfrm flipH="false" flipV="false" rot="0">
            <a:off x="4480560" y="4151376"/>
            <a:ext cx="2377440" cy="41147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00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Estimulación hepática y biliar, retención de líquidos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7" name="Shape 127"/>
          <p:cNvSpPr txBox="false"/>
          <p:nvPr isPhoto="false"/>
        </p:nvSpPr>
        <p:spPr>
          <a:xfrm flipH="false" flipV="false" rot="0">
            <a:off x="6903719" y="4151376"/>
            <a:ext cx="1691640" cy="41147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A67C52"/>
                </a:solidFill>
                <a:latin typeface="+mn-lt"/>
                <a:ea typeface="+mn-ea"/>
                <a:cs typeface="+mn-cs"/>
              </a:rPr>
              <a:t>Infusión raíz/hoja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8" name="Shape 128"/>
          <p:cNvSpPr txBox="false"/>
          <p:nvPr isPhoto="false"/>
        </p:nvSpPr>
        <p:spPr>
          <a:xfrm flipH="false" flipV="false" rot="0">
            <a:off x="457200" y="4645152"/>
            <a:ext cx="8229600" cy="384047"/>
          </a:xfrm>
          <a:prstGeom prst="rect">
            <a:avLst/>
          </a:prstGeom>
          <a:solidFill>
            <a:srgbClr val="FEF3E2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9" name="Shape 129"/>
          <p:cNvSpPr txBox="false"/>
          <p:nvPr isPhoto="false"/>
        </p:nvSpPr>
        <p:spPr>
          <a:xfrm flipH="false" flipV="false" rot="0">
            <a:off x="457200" y="4645152"/>
            <a:ext cx="64008" cy="384047"/>
          </a:xfrm>
          <a:prstGeom prst="rect">
            <a:avLst/>
          </a:prstGeom>
          <a:solidFill>
            <a:srgbClr val="F4A261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0" name="Shape 130"/>
          <p:cNvSpPr txBox="false"/>
          <p:nvPr isPhoto="false"/>
        </p:nvSpPr>
        <p:spPr>
          <a:xfrm flipH="false" flipV="false" rot="0">
            <a:off x="594360" y="4645152"/>
            <a:ext cx="7955280" cy="384047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00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⚠️  Contraindicado en obstrucción biliar, cálculos biliares grandes o cólico biliar agudo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7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31" name="GroupShape 13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32" name="Shape 132"/>
          <p:cNvSpPr txBox="false"/>
          <p:nvPr isPhoto="false"/>
        </p:nvSpPr>
        <p:spPr>
          <a:xfrm flipH="false" flipV="false" rot="0">
            <a:off x="0" y="0"/>
            <a:ext cx="9144000" cy="1051560"/>
          </a:xfrm>
          <a:prstGeom prst="rect">
            <a:avLst/>
          </a:prstGeom>
          <a:solidFill>
            <a:srgbClr val="A67C52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3" name="Shape 133"/>
          <p:cNvSpPr txBox="false"/>
          <p:nvPr isPhoto="false"/>
        </p:nvSpPr>
        <p:spPr>
          <a:xfrm flipH="false" flipV="false" rot="0">
            <a:off x="457200" y="91440"/>
            <a:ext cx="7772400" cy="50291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240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Antiespasmódicas</a:t>
            </a:r>
            <a:endParaRPr sz="24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4" name="Shape 134"/>
          <p:cNvSpPr txBox="false"/>
          <p:nvPr isPhoto="false"/>
        </p:nvSpPr>
        <p:spPr>
          <a:xfrm flipH="false" flipV="false" rot="0">
            <a:off x="457200" y="594360"/>
            <a:ext cx="6858000" cy="347472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i="true" sz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Relajan la musculatura lisa del tubo digestivo</a:t>
            </a:r>
            <a:endParaRPr sz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5" name="Shape 135"/>
          <p:cNvSpPr txBox="false"/>
          <p:nvPr isPhoto="false"/>
        </p:nvSpPr>
        <p:spPr>
          <a:xfrm flipH="false" flipV="false" rot="0">
            <a:off x="6858000" y="338328"/>
            <a:ext cx="2011680" cy="274319"/>
          </a:xfrm>
          <a:prstGeom prst="roundRect">
            <a:avLst>
              <a:gd fmla="val 16667" name="adj"/>
            </a:avLst>
          </a:prstGeom>
          <a:solidFill>
            <a:srgbClr val="FFFFFF">
              <a:alpha val="30000"/>
            </a:srgbClr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6" name="Shape 136"/>
          <p:cNvSpPr txBox="false"/>
          <p:nvPr isPhoto="false"/>
        </p:nvSpPr>
        <p:spPr>
          <a:xfrm flipH="false" flipV="false" rot="0">
            <a:off x="6858000" y="338328"/>
            <a:ext cx="2011680" cy="274319"/>
          </a:xfrm>
          <a:prstGeom prst="rect">
            <a:avLst/>
          </a:prstGeom>
          <a:noFill/>
          <a:ln>
            <a:prstDash val="solid"/>
          </a:ln>
        </p:spPr>
        <p:txBody>
          <a:bodyPr anchor="ctr" bIns="0" lIns="0" rIns="0" tIns="0" wrap="square"/>
          <a:p>
            <a:pPr algn="ctr" indent="0" marL="0"/>
            <a:r>
              <a:rPr b="true" sz="9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📍 Estómago · Intestino delgado · Colon</a:t>
            </a:r>
            <a:endParaRPr sz="9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7" name="Shape 137"/>
          <p:cNvSpPr txBox="false"/>
          <p:nvPr isPhoto="false"/>
        </p:nvSpPr>
        <p:spPr>
          <a:xfrm flipH="false" flipV="false" rot="0">
            <a:off x="457200" y="1188720"/>
            <a:ext cx="8229600" cy="658368"/>
          </a:xfrm>
          <a:prstGeom prst="rect">
            <a:avLst/>
          </a:prstGeom>
          <a:solidFill>
            <a:srgbClr val="A67C52">
              <a:alpha val="12000"/>
            </a:srgbClr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8" name="Shape 138"/>
          <p:cNvSpPr txBox="false"/>
          <p:nvPr isPhoto="false"/>
        </p:nvSpPr>
        <p:spPr>
          <a:xfrm flipH="false" flipV="false" rot="0">
            <a:off x="640080" y="1216152"/>
            <a:ext cx="1783079" cy="256031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100">
                <a:solidFill>
                  <a:srgbClr val="A67C52"/>
                </a:solidFill>
                <a:latin typeface="+mn-lt"/>
                <a:ea typeface="+mn-ea"/>
                <a:cs typeface="+mn-cs"/>
              </a:rPr>
              <a:t>Mecanismo de acción: 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9" name="Shape 139"/>
          <p:cNvSpPr txBox="false"/>
          <p:nvPr isPhoto="false"/>
        </p:nvSpPr>
        <p:spPr>
          <a:xfrm flipH="false" flipV="false" rot="0">
            <a:off x="640080" y="1463040"/>
            <a:ext cx="7863840" cy="347472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05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Actúan sobre los canales de calcio o los receptores muscarínicos de la musculatura lisa, reduciendo los espasmos y el dolor tipo cólico.</a:t>
            </a:r>
            <a:endParaRPr sz="10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0" name="Shape 140"/>
          <p:cNvSpPr txBox="false"/>
          <p:nvPr isPhoto="false"/>
        </p:nvSpPr>
        <p:spPr>
          <a:xfrm flipH="false" flipV="false" rot="0">
            <a:off x="457200" y="2011679"/>
            <a:ext cx="8229600" cy="301751"/>
          </a:xfrm>
          <a:prstGeom prst="rect">
            <a:avLst/>
          </a:prstGeom>
          <a:solidFill>
            <a:srgbClr val="A67C52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1" name="Shape 141"/>
          <p:cNvSpPr txBox="false"/>
          <p:nvPr isPhoto="false"/>
        </p:nvSpPr>
        <p:spPr>
          <a:xfrm flipH="false" flipV="false" rot="0">
            <a:off x="548640" y="2011679"/>
            <a:ext cx="2103120" cy="301751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Planta / Nombre científico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2" name="Shape 142"/>
          <p:cNvSpPr txBox="false"/>
          <p:nvPr isPhoto="false"/>
        </p:nvSpPr>
        <p:spPr>
          <a:xfrm flipH="false" flipV="false" rot="0">
            <a:off x="2651760" y="2011679"/>
            <a:ext cx="1828799" cy="301751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Comp. activo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3" name="Shape 143"/>
          <p:cNvSpPr txBox="false"/>
          <p:nvPr isPhoto="false"/>
        </p:nvSpPr>
        <p:spPr>
          <a:xfrm flipH="false" flipV="false" rot="0">
            <a:off x="4480560" y="2011679"/>
            <a:ext cx="2423159" cy="301751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Indicación principal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4" name="Shape 144"/>
          <p:cNvSpPr txBox="false"/>
          <p:nvPr isPhoto="false"/>
        </p:nvSpPr>
        <p:spPr>
          <a:xfrm flipH="false" flipV="false" rot="0">
            <a:off x="6903719" y="2011679"/>
            <a:ext cx="1737359" cy="301751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Forma de uso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5" name="Shape 145"/>
          <p:cNvSpPr txBox="false"/>
          <p:nvPr isPhoto="false"/>
        </p:nvSpPr>
        <p:spPr>
          <a:xfrm flipH="false" flipV="false" rot="0">
            <a:off x="457200" y="2331720"/>
            <a:ext cx="8229600" cy="566928"/>
          </a:xfrm>
          <a:prstGeom prst="rect">
            <a:avLst/>
          </a:prstGeom>
          <a:solidFill>
            <a:srgbClr val="FFFFFF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6" name="Shape 146"/>
          <p:cNvSpPr txBox="false"/>
          <p:nvPr isPhoto="false"/>
        </p:nvSpPr>
        <p:spPr>
          <a:xfrm flipH="false" flipV="false" rot="0">
            <a:off x="594360" y="2386584"/>
            <a:ext cx="2011679" cy="237744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200">
                <a:solidFill>
                  <a:srgbClr val="1B4332"/>
                </a:solidFill>
                <a:latin typeface="+mn-lt"/>
                <a:ea typeface="+mn-ea"/>
                <a:cs typeface="+mn-cs"/>
              </a:rPr>
              <a:t>Menta</a:t>
            </a:r>
            <a:endParaRPr sz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7" name="Shape 147"/>
          <p:cNvSpPr txBox="false"/>
          <p:nvPr isPhoto="false"/>
        </p:nvSpPr>
        <p:spPr>
          <a:xfrm flipH="false" flipV="false" rot="0">
            <a:off x="594360" y="2633472"/>
            <a:ext cx="2011679" cy="201167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i="true" sz="90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Mentha x piperita</a:t>
            </a:r>
            <a:endParaRPr sz="9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8" name="Shape 148"/>
          <p:cNvSpPr txBox="false"/>
          <p:nvPr isPhoto="false"/>
        </p:nvSpPr>
        <p:spPr>
          <a:xfrm flipH="false" flipV="false" rot="0">
            <a:off x="2651760" y="2423160"/>
            <a:ext cx="1783080" cy="41148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950">
                <a:solidFill>
                  <a:srgbClr val="A67C52"/>
                </a:solidFill>
                <a:latin typeface="+mn-lt"/>
                <a:ea typeface="+mn-ea"/>
                <a:cs typeface="+mn-cs"/>
              </a:rPr>
              <a:t>Mentol (aceite esencial)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9" name="Shape 149"/>
          <p:cNvSpPr txBox="false"/>
          <p:nvPr isPhoto="false"/>
        </p:nvSpPr>
        <p:spPr>
          <a:xfrm flipH="false" flipV="false" rot="0">
            <a:off x="4480560" y="2423160"/>
            <a:ext cx="2377440" cy="41148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00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Colon irritable, espasmos intestinales, náuseas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0" name="Shape 150"/>
          <p:cNvSpPr txBox="false"/>
          <p:nvPr isPhoto="false"/>
        </p:nvSpPr>
        <p:spPr>
          <a:xfrm flipH="false" flipV="false" rot="0">
            <a:off x="6903719" y="2423160"/>
            <a:ext cx="1691640" cy="41148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A67C52"/>
                </a:solidFill>
                <a:latin typeface="+mn-lt"/>
                <a:ea typeface="+mn-ea"/>
                <a:cs typeface="+mn-cs"/>
              </a:rPr>
              <a:t>Aceite esencial (cáps.), infusión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1" name="Shape 151"/>
          <p:cNvSpPr txBox="false"/>
          <p:nvPr isPhoto="false"/>
        </p:nvSpPr>
        <p:spPr>
          <a:xfrm flipH="false" flipV="false" rot="0">
            <a:off x="457200" y="2907792"/>
            <a:ext cx="8229600" cy="566928"/>
          </a:xfrm>
          <a:prstGeom prst="rect">
            <a:avLst/>
          </a:prstGeom>
          <a:solidFill>
            <a:srgbClr val="F0E6D6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2" name="Shape 152"/>
          <p:cNvSpPr txBox="false"/>
          <p:nvPr isPhoto="false"/>
        </p:nvSpPr>
        <p:spPr>
          <a:xfrm flipH="false" flipV="false" rot="0">
            <a:off x="594360" y="2962656"/>
            <a:ext cx="2011679" cy="237744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200">
                <a:solidFill>
                  <a:srgbClr val="1B4332"/>
                </a:solidFill>
                <a:latin typeface="+mn-lt"/>
                <a:ea typeface="+mn-ea"/>
                <a:cs typeface="+mn-cs"/>
              </a:rPr>
              <a:t>Manzanilla</a:t>
            </a:r>
            <a:endParaRPr sz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3" name="Shape 153"/>
          <p:cNvSpPr txBox="false"/>
          <p:nvPr isPhoto="false"/>
        </p:nvSpPr>
        <p:spPr>
          <a:xfrm flipH="false" flipV="false" rot="0">
            <a:off x="594360" y="3209544"/>
            <a:ext cx="2011679" cy="201167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i="true" sz="90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Matricaria chamomilla</a:t>
            </a:r>
            <a:endParaRPr sz="9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4" name="Shape 154"/>
          <p:cNvSpPr txBox="false"/>
          <p:nvPr isPhoto="false"/>
        </p:nvSpPr>
        <p:spPr>
          <a:xfrm flipH="false" flipV="false" rot="0">
            <a:off x="2651760" y="2999232"/>
            <a:ext cx="1783080" cy="41147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950">
                <a:solidFill>
                  <a:srgbClr val="A67C52"/>
                </a:solidFill>
                <a:latin typeface="+mn-lt"/>
                <a:ea typeface="+mn-ea"/>
                <a:cs typeface="+mn-cs"/>
              </a:rPr>
              <a:t>Apigenina (flavonoide)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5" name="Shape 155"/>
          <p:cNvSpPr txBox="false"/>
          <p:nvPr isPhoto="false"/>
        </p:nvSpPr>
        <p:spPr>
          <a:xfrm flipH="false" flipV="false" rot="0">
            <a:off x="4480560" y="2999232"/>
            <a:ext cx="2377440" cy="41147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00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Espasmos, gastritis leve, cólicos en general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6" name="Shape 156"/>
          <p:cNvSpPr txBox="false"/>
          <p:nvPr isPhoto="false"/>
        </p:nvSpPr>
        <p:spPr>
          <a:xfrm flipH="false" flipV="false" rot="0">
            <a:off x="6903719" y="2999232"/>
            <a:ext cx="1691640" cy="41147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A67C52"/>
                </a:solidFill>
                <a:latin typeface="+mn-lt"/>
                <a:ea typeface="+mn-ea"/>
                <a:cs typeface="+mn-cs"/>
              </a:rPr>
              <a:t>Infusión de flores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7" name="Shape 157"/>
          <p:cNvSpPr txBox="false"/>
          <p:nvPr isPhoto="false"/>
        </p:nvSpPr>
        <p:spPr>
          <a:xfrm flipH="false" flipV="false" rot="0">
            <a:off x="457200" y="3483864"/>
            <a:ext cx="8229600" cy="566928"/>
          </a:xfrm>
          <a:prstGeom prst="rect">
            <a:avLst/>
          </a:prstGeom>
          <a:solidFill>
            <a:srgbClr val="FFFFFF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8" name="Shape 158"/>
          <p:cNvSpPr txBox="false"/>
          <p:nvPr isPhoto="false"/>
        </p:nvSpPr>
        <p:spPr>
          <a:xfrm flipH="false" flipV="false" rot="0">
            <a:off x="594360" y="3538728"/>
            <a:ext cx="2011679" cy="237744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200">
                <a:solidFill>
                  <a:srgbClr val="1B4332"/>
                </a:solidFill>
                <a:latin typeface="+mn-lt"/>
                <a:ea typeface="+mn-ea"/>
                <a:cs typeface="+mn-cs"/>
              </a:rPr>
              <a:t>Cedrón</a:t>
            </a:r>
            <a:endParaRPr sz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9" name="Shape 159"/>
          <p:cNvSpPr txBox="false"/>
          <p:nvPr isPhoto="false"/>
        </p:nvSpPr>
        <p:spPr>
          <a:xfrm flipH="false" flipV="false" rot="0">
            <a:off x="594360" y="3785615"/>
            <a:ext cx="2011679" cy="201167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i="true" sz="90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Aloysia citriodora</a:t>
            </a:r>
            <a:endParaRPr sz="9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60" name="Shape 160"/>
          <p:cNvSpPr txBox="false"/>
          <p:nvPr isPhoto="false"/>
        </p:nvSpPr>
        <p:spPr>
          <a:xfrm flipH="false" flipV="false" rot="0">
            <a:off x="2651760" y="3575303"/>
            <a:ext cx="1783080" cy="41147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950">
                <a:solidFill>
                  <a:srgbClr val="A67C52"/>
                </a:solidFill>
                <a:latin typeface="+mn-lt"/>
                <a:ea typeface="+mn-ea"/>
                <a:cs typeface="+mn-cs"/>
              </a:rPr>
              <a:t>Citral, limoneno (aceites esenc.)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61" name="Shape 161"/>
          <p:cNvSpPr txBox="false"/>
          <p:nvPr isPhoto="false"/>
        </p:nvSpPr>
        <p:spPr>
          <a:xfrm flipH="false" flipV="false" rot="0">
            <a:off x="4480560" y="3575303"/>
            <a:ext cx="2377440" cy="41147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00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Espasmos digestivos, ansiedad con síntomas digestivos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62" name="Shape 162"/>
          <p:cNvSpPr txBox="false"/>
          <p:nvPr isPhoto="false"/>
        </p:nvSpPr>
        <p:spPr>
          <a:xfrm flipH="false" flipV="false" rot="0">
            <a:off x="6903719" y="3575303"/>
            <a:ext cx="1691640" cy="41147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A67C52"/>
                </a:solidFill>
                <a:latin typeface="+mn-lt"/>
                <a:ea typeface="+mn-ea"/>
                <a:cs typeface="+mn-cs"/>
              </a:rPr>
              <a:t>Infusión de hojas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63" name="Shape 163"/>
          <p:cNvSpPr txBox="false"/>
          <p:nvPr isPhoto="false"/>
        </p:nvSpPr>
        <p:spPr>
          <a:xfrm flipH="false" flipV="false" rot="0">
            <a:off x="457200" y="4059936"/>
            <a:ext cx="8229600" cy="566928"/>
          </a:xfrm>
          <a:prstGeom prst="rect">
            <a:avLst/>
          </a:prstGeom>
          <a:solidFill>
            <a:srgbClr val="F0E6D6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64" name="Shape 164"/>
          <p:cNvSpPr txBox="false"/>
          <p:nvPr isPhoto="false"/>
        </p:nvSpPr>
        <p:spPr>
          <a:xfrm flipH="false" flipV="false" rot="0">
            <a:off x="594360" y="4114800"/>
            <a:ext cx="2011679" cy="237744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200">
                <a:solidFill>
                  <a:srgbClr val="1B4332"/>
                </a:solidFill>
                <a:latin typeface="+mn-lt"/>
                <a:ea typeface="+mn-ea"/>
                <a:cs typeface="+mn-cs"/>
              </a:rPr>
              <a:t>Hinojo</a:t>
            </a:r>
            <a:endParaRPr sz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65" name="Shape 165"/>
          <p:cNvSpPr txBox="false"/>
          <p:nvPr isPhoto="false"/>
        </p:nvSpPr>
        <p:spPr>
          <a:xfrm flipH="false" flipV="false" rot="0">
            <a:off x="594360" y="4361688"/>
            <a:ext cx="2011679" cy="201167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i="true" sz="90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Foeniculum vulgare</a:t>
            </a:r>
            <a:endParaRPr sz="9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66" name="Shape 166"/>
          <p:cNvSpPr txBox="false"/>
          <p:nvPr isPhoto="false"/>
        </p:nvSpPr>
        <p:spPr>
          <a:xfrm flipH="false" flipV="false" rot="0">
            <a:off x="2651760" y="4151376"/>
            <a:ext cx="1783080" cy="41147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950">
                <a:solidFill>
                  <a:srgbClr val="A67C52"/>
                </a:solidFill>
                <a:latin typeface="+mn-lt"/>
                <a:ea typeface="+mn-ea"/>
                <a:cs typeface="+mn-cs"/>
              </a:rPr>
              <a:t>Anetol (aceite esencial)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67" name="Shape 167"/>
          <p:cNvSpPr txBox="false"/>
          <p:nvPr isPhoto="false"/>
        </p:nvSpPr>
        <p:spPr>
          <a:xfrm flipH="false" flipV="false" rot="0">
            <a:off x="4480560" y="4151376"/>
            <a:ext cx="2377440" cy="41147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00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Espasmos + gases, cólico del lactante (uso externo)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68" name="Shape 168"/>
          <p:cNvSpPr txBox="false"/>
          <p:nvPr isPhoto="false"/>
        </p:nvSpPr>
        <p:spPr>
          <a:xfrm flipH="false" flipV="false" rot="0">
            <a:off x="6903719" y="4151376"/>
            <a:ext cx="1691640" cy="41147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A67C52"/>
                </a:solidFill>
                <a:latin typeface="+mn-lt"/>
                <a:ea typeface="+mn-ea"/>
                <a:cs typeface="+mn-cs"/>
              </a:rPr>
              <a:t>Infusión de frutos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69" name="Shape 169"/>
          <p:cNvSpPr txBox="false"/>
          <p:nvPr isPhoto="false"/>
        </p:nvSpPr>
        <p:spPr>
          <a:xfrm flipH="false" flipV="false" rot="0">
            <a:off x="457200" y="4645152"/>
            <a:ext cx="8229600" cy="384047"/>
          </a:xfrm>
          <a:prstGeom prst="rect">
            <a:avLst/>
          </a:prstGeom>
          <a:solidFill>
            <a:srgbClr val="FEF3E2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70" name="Shape 170"/>
          <p:cNvSpPr txBox="false"/>
          <p:nvPr isPhoto="false"/>
        </p:nvSpPr>
        <p:spPr>
          <a:xfrm flipH="false" flipV="false" rot="0">
            <a:off x="457200" y="4645152"/>
            <a:ext cx="64008" cy="384047"/>
          </a:xfrm>
          <a:prstGeom prst="rect">
            <a:avLst/>
          </a:prstGeom>
          <a:solidFill>
            <a:srgbClr val="F4A261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71" name="Shape 171"/>
          <p:cNvSpPr txBox="false"/>
          <p:nvPr isPhoto="false"/>
        </p:nvSpPr>
        <p:spPr>
          <a:xfrm flipH="false" flipV="false" rot="0">
            <a:off x="594360" y="4645152"/>
            <a:ext cx="7955280" cy="384047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00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⚠️  El aceite esencial de menta está contraindicado en reflujo gastroesofágico y en niños pequeños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8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72" name="GroupShape 17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73" name="Shape 173"/>
          <p:cNvSpPr txBox="false"/>
          <p:nvPr isPhoto="false"/>
        </p:nvSpPr>
        <p:spPr>
          <a:xfrm flipH="false" flipV="false" rot="0">
            <a:off x="0" y="0"/>
            <a:ext cx="9144000" cy="1051560"/>
          </a:xfrm>
          <a:prstGeom prst="rect">
            <a:avLst/>
          </a:prstGeom>
          <a:solidFill>
            <a:srgbClr val="2D6A4F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74" name="Shape 174"/>
          <p:cNvSpPr txBox="false"/>
          <p:nvPr isPhoto="false"/>
        </p:nvSpPr>
        <p:spPr>
          <a:xfrm flipH="false" flipV="false" rot="0">
            <a:off x="457200" y="91440"/>
            <a:ext cx="7772400" cy="50291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240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Carminativas</a:t>
            </a:r>
            <a:endParaRPr sz="24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75" name="Shape 175"/>
          <p:cNvSpPr txBox="false"/>
          <p:nvPr isPhoto="false"/>
        </p:nvSpPr>
        <p:spPr>
          <a:xfrm flipH="false" flipV="false" rot="0">
            <a:off x="457200" y="594360"/>
            <a:ext cx="6858000" cy="347472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i="true" sz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Reducen la formación y favorecen la eliminación de gases</a:t>
            </a:r>
            <a:endParaRPr sz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76" name="Shape 176"/>
          <p:cNvSpPr txBox="false"/>
          <p:nvPr isPhoto="false"/>
        </p:nvSpPr>
        <p:spPr>
          <a:xfrm flipH="false" flipV="false" rot="0">
            <a:off x="6858000" y="338328"/>
            <a:ext cx="2011680" cy="274319"/>
          </a:xfrm>
          <a:prstGeom prst="roundRect">
            <a:avLst>
              <a:gd fmla="val 16667" name="adj"/>
            </a:avLst>
          </a:prstGeom>
          <a:solidFill>
            <a:srgbClr val="FFFFFF">
              <a:alpha val="30000"/>
            </a:srgbClr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77" name="Shape 177"/>
          <p:cNvSpPr txBox="false"/>
          <p:nvPr isPhoto="false"/>
        </p:nvSpPr>
        <p:spPr>
          <a:xfrm flipH="false" flipV="false" rot="0">
            <a:off x="6858000" y="338328"/>
            <a:ext cx="2011680" cy="274319"/>
          </a:xfrm>
          <a:prstGeom prst="rect">
            <a:avLst/>
          </a:prstGeom>
          <a:noFill/>
          <a:ln>
            <a:prstDash val="solid"/>
          </a:ln>
        </p:spPr>
        <p:txBody>
          <a:bodyPr anchor="ctr" bIns="0" lIns="0" rIns="0" tIns="0" wrap="square"/>
          <a:p>
            <a:pPr algn="ctr" indent="0" marL="0"/>
            <a:r>
              <a:rPr b="true" sz="9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📍 Intestino delgado · Intestino grueso</a:t>
            </a:r>
            <a:endParaRPr sz="9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78" name="Shape 178"/>
          <p:cNvSpPr txBox="false"/>
          <p:nvPr isPhoto="false"/>
        </p:nvSpPr>
        <p:spPr>
          <a:xfrm flipH="false" flipV="false" rot="0">
            <a:off x="457200" y="1188720"/>
            <a:ext cx="8229600" cy="658368"/>
          </a:xfrm>
          <a:prstGeom prst="rect">
            <a:avLst/>
          </a:prstGeom>
          <a:solidFill>
            <a:srgbClr val="2D6A4F">
              <a:alpha val="12000"/>
            </a:srgbClr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79" name="Shape 179"/>
          <p:cNvSpPr txBox="false"/>
          <p:nvPr isPhoto="false"/>
        </p:nvSpPr>
        <p:spPr>
          <a:xfrm flipH="false" flipV="false" rot="0">
            <a:off x="640080" y="1216152"/>
            <a:ext cx="1783079" cy="256031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100">
                <a:solidFill>
                  <a:srgbClr val="2D6A4F"/>
                </a:solidFill>
                <a:latin typeface="+mn-lt"/>
                <a:ea typeface="+mn-ea"/>
                <a:cs typeface="+mn-cs"/>
              </a:rPr>
              <a:t>Mecanismo de acción: 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0" name="Shape 180"/>
          <p:cNvSpPr txBox="false"/>
          <p:nvPr isPhoto="false"/>
        </p:nvSpPr>
        <p:spPr>
          <a:xfrm flipH="false" flipV="false" rot="0">
            <a:off x="640080" y="1463040"/>
            <a:ext cx="7863840" cy="347472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05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Contienen aceites esenciales (principalmente terpenos) que reducen la tensión superficial de las burbujas de gas y estimulan el peristaltismo intestinal.</a:t>
            </a:r>
            <a:endParaRPr sz="10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1" name="Shape 181"/>
          <p:cNvSpPr txBox="false"/>
          <p:nvPr isPhoto="false"/>
        </p:nvSpPr>
        <p:spPr>
          <a:xfrm flipH="false" flipV="false" rot="0">
            <a:off x="457200" y="2011679"/>
            <a:ext cx="8229600" cy="301751"/>
          </a:xfrm>
          <a:prstGeom prst="rect">
            <a:avLst/>
          </a:prstGeom>
          <a:solidFill>
            <a:srgbClr val="2D6A4F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2" name="Shape 182"/>
          <p:cNvSpPr txBox="false"/>
          <p:nvPr isPhoto="false"/>
        </p:nvSpPr>
        <p:spPr>
          <a:xfrm flipH="false" flipV="false" rot="0">
            <a:off x="548640" y="2011679"/>
            <a:ext cx="2103120" cy="301751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Planta / Nombre científico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3" name="Shape 183"/>
          <p:cNvSpPr txBox="false"/>
          <p:nvPr isPhoto="false"/>
        </p:nvSpPr>
        <p:spPr>
          <a:xfrm flipH="false" flipV="false" rot="0">
            <a:off x="2651760" y="2011679"/>
            <a:ext cx="1828799" cy="301751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Comp. activo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4" name="Shape 184"/>
          <p:cNvSpPr txBox="false"/>
          <p:nvPr isPhoto="false"/>
        </p:nvSpPr>
        <p:spPr>
          <a:xfrm flipH="false" flipV="false" rot="0">
            <a:off x="4480560" y="2011679"/>
            <a:ext cx="2423159" cy="301751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Indicación principal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5" name="Shape 185"/>
          <p:cNvSpPr txBox="false"/>
          <p:nvPr isPhoto="false"/>
        </p:nvSpPr>
        <p:spPr>
          <a:xfrm flipH="false" flipV="false" rot="0">
            <a:off x="6903719" y="2011679"/>
            <a:ext cx="1737359" cy="301751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Forma de uso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6" name="Shape 186"/>
          <p:cNvSpPr txBox="false"/>
          <p:nvPr isPhoto="false"/>
        </p:nvSpPr>
        <p:spPr>
          <a:xfrm flipH="false" flipV="false" rot="0">
            <a:off x="457200" y="2331720"/>
            <a:ext cx="8229600" cy="566928"/>
          </a:xfrm>
          <a:prstGeom prst="rect">
            <a:avLst/>
          </a:prstGeom>
          <a:solidFill>
            <a:srgbClr val="FFFFFF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7" name="Shape 187"/>
          <p:cNvSpPr txBox="false"/>
          <p:nvPr isPhoto="false"/>
        </p:nvSpPr>
        <p:spPr>
          <a:xfrm flipH="false" flipV="false" rot="0">
            <a:off x="594360" y="2386584"/>
            <a:ext cx="2011679" cy="237744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200">
                <a:solidFill>
                  <a:srgbClr val="1B4332"/>
                </a:solidFill>
                <a:latin typeface="+mn-lt"/>
                <a:ea typeface="+mn-ea"/>
                <a:cs typeface="+mn-cs"/>
              </a:rPr>
              <a:t>Anís verde</a:t>
            </a:r>
            <a:endParaRPr sz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8" name="Shape 188"/>
          <p:cNvSpPr txBox="false"/>
          <p:nvPr isPhoto="false"/>
        </p:nvSpPr>
        <p:spPr>
          <a:xfrm flipH="false" flipV="false" rot="0">
            <a:off x="594360" y="2633472"/>
            <a:ext cx="2011679" cy="201167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i="true" sz="90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Pimpinella anisum</a:t>
            </a:r>
            <a:endParaRPr sz="9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9" name="Shape 189"/>
          <p:cNvSpPr txBox="false"/>
          <p:nvPr isPhoto="false"/>
        </p:nvSpPr>
        <p:spPr>
          <a:xfrm flipH="false" flipV="false" rot="0">
            <a:off x="2651760" y="2423160"/>
            <a:ext cx="1783080" cy="41148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950">
                <a:solidFill>
                  <a:srgbClr val="2D6A4F"/>
                </a:solidFill>
                <a:latin typeface="+mn-lt"/>
                <a:ea typeface="+mn-ea"/>
                <a:cs typeface="+mn-cs"/>
              </a:rPr>
              <a:t>Anetol (aceite esencial)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0" name="Shape 190"/>
          <p:cNvSpPr txBox="false"/>
          <p:nvPr isPhoto="false"/>
        </p:nvSpPr>
        <p:spPr>
          <a:xfrm flipH="false" flipV="false" rot="0">
            <a:off x="4480560" y="2423160"/>
            <a:ext cx="2377440" cy="41148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00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Meteorismo, flatulencias, espasmos leves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1" name="Shape 191"/>
          <p:cNvSpPr txBox="false"/>
          <p:nvPr isPhoto="false"/>
        </p:nvSpPr>
        <p:spPr>
          <a:xfrm flipH="false" flipV="false" rot="0">
            <a:off x="6903719" y="2423160"/>
            <a:ext cx="1691640" cy="41148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A67C52"/>
                </a:solidFill>
                <a:latin typeface="+mn-lt"/>
                <a:ea typeface="+mn-ea"/>
                <a:cs typeface="+mn-cs"/>
              </a:rPr>
              <a:t>Infusión de frutos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2" name="Shape 192"/>
          <p:cNvSpPr txBox="false"/>
          <p:nvPr isPhoto="false"/>
        </p:nvSpPr>
        <p:spPr>
          <a:xfrm flipH="false" flipV="false" rot="0">
            <a:off x="457200" y="2907792"/>
            <a:ext cx="8229600" cy="566928"/>
          </a:xfrm>
          <a:prstGeom prst="rect">
            <a:avLst/>
          </a:prstGeom>
          <a:solidFill>
            <a:srgbClr val="F0E6D6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3" name="Shape 193"/>
          <p:cNvSpPr txBox="false"/>
          <p:nvPr isPhoto="false"/>
        </p:nvSpPr>
        <p:spPr>
          <a:xfrm flipH="false" flipV="false" rot="0">
            <a:off x="594360" y="2962656"/>
            <a:ext cx="2011679" cy="237744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200">
                <a:solidFill>
                  <a:srgbClr val="1B4332"/>
                </a:solidFill>
                <a:latin typeface="+mn-lt"/>
                <a:ea typeface="+mn-ea"/>
                <a:cs typeface="+mn-cs"/>
              </a:rPr>
              <a:t>Hinojo</a:t>
            </a:r>
            <a:endParaRPr sz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4" name="Shape 194"/>
          <p:cNvSpPr txBox="false"/>
          <p:nvPr isPhoto="false"/>
        </p:nvSpPr>
        <p:spPr>
          <a:xfrm flipH="false" flipV="false" rot="0">
            <a:off x="594360" y="3209544"/>
            <a:ext cx="2011679" cy="201167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i="true" sz="90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Foeniculum vulgare</a:t>
            </a:r>
            <a:endParaRPr sz="9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5" name="Shape 195"/>
          <p:cNvSpPr txBox="false"/>
          <p:nvPr isPhoto="false"/>
        </p:nvSpPr>
        <p:spPr>
          <a:xfrm flipH="false" flipV="false" rot="0">
            <a:off x="2651760" y="2999232"/>
            <a:ext cx="1783080" cy="41147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950">
                <a:solidFill>
                  <a:srgbClr val="2D6A4F"/>
                </a:solidFill>
                <a:latin typeface="+mn-lt"/>
                <a:ea typeface="+mn-ea"/>
                <a:cs typeface="+mn-cs"/>
              </a:rPr>
              <a:t>Anetol, fenchona (ac. esencial)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6" name="Shape 196"/>
          <p:cNvSpPr txBox="false"/>
          <p:nvPr isPhoto="false"/>
        </p:nvSpPr>
        <p:spPr>
          <a:xfrm flipH="false" flipV="false" rot="0">
            <a:off x="4480560" y="2999232"/>
            <a:ext cx="2377440" cy="41147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00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Gases, distensión, cólicos (doble acción: carmin. + antiespas.)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7" name="Shape 197"/>
          <p:cNvSpPr txBox="false"/>
          <p:nvPr isPhoto="false"/>
        </p:nvSpPr>
        <p:spPr>
          <a:xfrm flipH="false" flipV="false" rot="0">
            <a:off x="6903719" y="2999232"/>
            <a:ext cx="1691640" cy="41147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A67C52"/>
                </a:solidFill>
                <a:latin typeface="+mn-lt"/>
                <a:ea typeface="+mn-ea"/>
                <a:cs typeface="+mn-cs"/>
              </a:rPr>
              <a:t>Infusión de frutos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8" name="Shape 198"/>
          <p:cNvSpPr txBox="false"/>
          <p:nvPr isPhoto="false"/>
        </p:nvSpPr>
        <p:spPr>
          <a:xfrm flipH="false" flipV="false" rot="0">
            <a:off x="457200" y="3483864"/>
            <a:ext cx="8229600" cy="566928"/>
          </a:xfrm>
          <a:prstGeom prst="rect">
            <a:avLst/>
          </a:prstGeom>
          <a:solidFill>
            <a:srgbClr val="FFFFFF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9" name="Shape 199"/>
          <p:cNvSpPr txBox="false"/>
          <p:nvPr isPhoto="false"/>
        </p:nvSpPr>
        <p:spPr>
          <a:xfrm flipH="false" flipV="false" rot="0">
            <a:off x="594360" y="3538728"/>
            <a:ext cx="2011679" cy="237744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200">
                <a:solidFill>
                  <a:srgbClr val="1B4332"/>
                </a:solidFill>
                <a:latin typeface="+mn-lt"/>
                <a:ea typeface="+mn-ea"/>
                <a:cs typeface="+mn-cs"/>
              </a:rPr>
              <a:t>Jengibre</a:t>
            </a:r>
            <a:endParaRPr sz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0" name="Shape 200"/>
          <p:cNvSpPr txBox="false"/>
          <p:nvPr isPhoto="false"/>
        </p:nvSpPr>
        <p:spPr>
          <a:xfrm flipH="false" flipV="false" rot="0">
            <a:off x="594360" y="3785615"/>
            <a:ext cx="2011679" cy="201167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i="true" sz="90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Zingiber officinale</a:t>
            </a:r>
            <a:endParaRPr sz="9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1" name="Shape 201"/>
          <p:cNvSpPr txBox="false"/>
          <p:nvPr isPhoto="false"/>
        </p:nvSpPr>
        <p:spPr>
          <a:xfrm flipH="false" flipV="false" rot="0">
            <a:off x="2651760" y="3575303"/>
            <a:ext cx="1783080" cy="41147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950">
                <a:solidFill>
                  <a:srgbClr val="2D6A4F"/>
                </a:solidFill>
                <a:latin typeface="+mn-lt"/>
                <a:ea typeface="+mn-ea"/>
                <a:cs typeface="+mn-cs"/>
              </a:rPr>
              <a:t>Gingeroles y shogaoles (fenoles)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2" name="Shape 202"/>
          <p:cNvSpPr txBox="false"/>
          <p:nvPr isPhoto="false"/>
        </p:nvSpPr>
        <p:spPr>
          <a:xfrm flipH="false" flipV="false" rot="0">
            <a:off x="4480560" y="3575303"/>
            <a:ext cx="2377440" cy="41147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00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Náuseas, gases, digestión lenta, dismotilidad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3" name="Shape 203"/>
          <p:cNvSpPr txBox="false"/>
          <p:nvPr isPhoto="false"/>
        </p:nvSpPr>
        <p:spPr>
          <a:xfrm flipH="false" flipV="false" rot="0">
            <a:off x="6903719" y="3575303"/>
            <a:ext cx="1691640" cy="41147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A67C52"/>
                </a:solidFill>
                <a:latin typeface="+mn-lt"/>
                <a:ea typeface="+mn-ea"/>
                <a:cs typeface="+mn-cs"/>
              </a:rPr>
              <a:t>Infusión, fresco, cáps.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4" name="Shape 204"/>
          <p:cNvSpPr txBox="false"/>
          <p:nvPr isPhoto="false"/>
        </p:nvSpPr>
        <p:spPr>
          <a:xfrm flipH="false" flipV="false" rot="0">
            <a:off x="457200" y="4059936"/>
            <a:ext cx="8229600" cy="566928"/>
          </a:xfrm>
          <a:prstGeom prst="rect">
            <a:avLst/>
          </a:prstGeom>
          <a:solidFill>
            <a:srgbClr val="F0E6D6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5" name="Shape 205"/>
          <p:cNvSpPr txBox="false"/>
          <p:nvPr isPhoto="false"/>
        </p:nvSpPr>
        <p:spPr>
          <a:xfrm flipH="false" flipV="false" rot="0">
            <a:off x="594360" y="4114800"/>
            <a:ext cx="2011679" cy="237744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200">
                <a:solidFill>
                  <a:srgbClr val="1B4332"/>
                </a:solidFill>
                <a:latin typeface="+mn-lt"/>
                <a:ea typeface="+mn-ea"/>
                <a:cs typeface="+mn-cs"/>
              </a:rPr>
              <a:t>Comino</a:t>
            </a:r>
            <a:endParaRPr sz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6" name="Shape 206"/>
          <p:cNvSpPr txBox="false"/>
          <p:nvPr isPhoto="false"/>
        </p:nvSpPr>
        <p:spPr>
          <a:xfrm flipH="false" flipV="false" rot="0">
            <a:off x="594360" y="4361688"/>
            <a:ext cx="2011679" cy="201167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i="true" sz="90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Cuminum cyminum</a:t>
            </a:r>
            <a:endParaRPr sz="9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7" name="Shape 207"/>
          <p:cNvSpPr txBox="false"/>
          <p:nvPr isPhoto="false"/>
        </p:nvSpPr>
        <p:spPr>
          <a:xfrm flipH="false" flipV="false" rot="0">
            <a:off x="2651760" y="4151376"/>
            <a:ext cx="1783080" cy="41147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950">
                <a:solidFill>
                  <a:srgbClr val="2D6A4F"/>
                </a:solidFill>
                <a:latin typeface="+mn-lt"/>
                <a:ea typeface="+mn-ea"/>
                <a:cs typeface="+mn-cs"/>
              </a:rPr>
              <a:t>Cuminaldehído (aceite esencial)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8" name="Shape 208"/>
          <p:cNvSpPr txBox="false"/>
          <p:nvPr isPhoto="false"/>
        </p:nvSpPr>
        <p:spPr>
          <a:xfrm flipH="false" flipV="false" rot="0">
            <a:off x="4480560" y="4151376"/>
            <a:ext cx="2377440" cy="41147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00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Meteorismo post-prandial, digestión de legumbres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9" name="Shape 209"/>
          <p:cNvSpPr txBox="false"/>
          <p:nvPr isPhoto="false"/>
        </p:nvSpPr>
        <p:spPr>
          <a:xfrm flipH="false" flipV="false" rot="0">
            <a:off x="6903719" y="4151376"/>
            <a:ext cx="1691640" cy="41147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A67C52"/>
                </a:solidFill>
                <a:latin typeface="+mn-lt"/>
                <a:ea typeface="+mn-ea"/>
                <a:cs typeface="+mn-cs"/>
              </a:rPr>
              <a:t>Infusión, especia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10" name="Shape 210"/>
          <p:cNvSpPr txBox="false"/>
          <p:nvPr isPhoto="false"/>
        </p:nvSpPr>
        <p:spPr>
          <a:xfrm flipH="false" flipV="false" rot="0">
            <a:off x="457200" y="4645152"/>
            <a:ext cx="8229600" cy="384047"/>
          </a:xfrm>
          <a:prstGeom prst="rect">
            <a:avLst/>
          </a:prstGeom>
          <a:solidFill>
            <a:srgbClr val="FEF3E2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11" name="Shape 211"/>
          <p:cNvSpPr txBox="false"/>
          <p:nvPr isPhoto="false"/>
        </p:nvSpPr>
        <p:spPr>
          <a:xfrm flipH="false" flipV="false" rot="0">
            <a:off x="457200" y="4645152"/>
            <a:ext cx="64008" cy="384047"/>
          </a:xfrm>
          <a:prstGeom prst="rect">
            <a:avLst/>
          </a:prstGeom>
          <a:solidFill>
            <a:srgbClr val="F4A261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12" name="Shape 212"/>
          <p:cNvSpPr txBox="false"/>
          <p:nvPr isPhoto="false"/>
        </p:nvSpPr>
        <p:spPr>
          <a:xfrm flipH="false" flipV="false" rot="0">
            <a:off x="594360" y="4645152"/>
            <a:ext cx="7955280" cy="384047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00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⚠️  Evitar el anís en embarazo. El jengibre a dosis altas puede interactuar con anticoagulantes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9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13" name="GroupShape 213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14" name="Shape 214"/>
          <p:cNvSpPr txBox="false"/>
          <p:nvPr isPhoto="false"/>
        </p:nvSpPr>
        <p:spPr>
          <a:xfrm flipH="false" flipV="false" rot="0">
            <a:off x="0" y="0"/>
            <a:ext cx="9144000" cy="1051560"/>
          </a:xfrm>
          <a:prstGeom prst="rect">
            <a:avLst/>
          </a:prstGeom>
          <a:solidFill>
            <a:srgbClr val="F4A261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15" name="Shape 215"/>
          <p:cNvSpPr txBox="false"/>
          <p:nvPr isPhoto="false"/>
        </p:nvSpPr>
        <p:spPr>
          <a:xfrm flipH="false" flipV="false" rot="0">
            <a:off x="457200" y="91440"/>
            <a:ext cx="7772400" cy="50291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240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Digestivas y Amargas</a:t>
            </a:r>
            <a:endParaRPr sz="24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16" name="Shape 216"/>
          <p:cNvSpPr txBox="false"/>
          <p:nvPr isPhoto="false"/>
        </p:nvSpPr>
        <p:spPr>
          <a:xfrm flipH="false" flipV="false" rot="0">
            <a:off x="457200" y="594360"/>
            <a:ext cx="6858000" cy="347472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i="true" sz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Estimulan la secreción gástrica y pancreática</a:t>
            </a:r>
            <a:endParaRPr sz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17" name="Shape 217"/>
          <p:cNvSpPr txBox="false"/>
          <p:nvPr isPhoto="false"/>
        </p:nvSpPr>
        <p:spPr>
          <a:xfrm flipH="false" flipV="false" rot="0">
            <a:off x="6858000" y="338328"/>
            <a:ext cx="2011680" cy="274319"/>
          </a:xfrm>
          <a:prstGeom prst="roundRect">
            <a:avLst>
              <a:gd fmla="val 16667" name="adj"/>
            </a:avLst>
          </a:prstGeom>
          <a:solidFill>
            <a:srgbClr val="FFFFFF">
              <a:alpha val="30000"/>
            </a:srgbClr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18" name="Shape 218"/>
          <p:cNvSpPr txBox="false"/>
          <p:nvPr isPhoto="false"/>
        </p:nvSpPr>
        <p:spPr>
          <a:xfrm flipH="false" flipV="false" rot="0">
            <a:off x="6858000" y="338328"/>
            <a:ext cx="2011680" cy="274319"/>
          </a:xfrm>
          <a:prstGeom prst="rect">
            <a:avLst/>
          </a:prstGeom>
          <a:noFill/>
          <a:ln>
            <a:prstDash val="solid"/>
          </a:ln>
        </p:spPr>
        <p:txBody>
          <a:bodyPr anchor="ctr" bIns="0" lIns="0" rIns="0" tIns="0" wrap="square"/>
          <a:p>
            <a:pPr algn="ctr" indent="0" marL="0"/>
            <a:r>
              <a:rPr b="true" sz="9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📍 Boca · Estómago · Páncreas</a:t>
            </a:r>
            <a:endParaRPr sz="9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19" name="Shape 219"/>
          <p:cNvSpPr txBox="false"/>
          <p:nvPr isPhoto="false"/>
        </p:nvSpPr>
        <p:spPr>
          <a:xfrm flipH="false" flipV="false" rot="0">
            <a:off x="457200" y="1188720"/>
            <a:ext cx="8229600" cy="658368"/>
          </a:xfrm>
          <a:prstGeom prst="rect">
            <a:avLst/>
          </a:prstGeom>
          <a:solidFill>
            <a:srgbClr val="F4A261">
              <a:alpha val="12000"/>
            </a:srgbClr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20" name="Shape 220"/>
          <p:cNvSpPr txBox="false"/>
          <p:nvPr isPhoto="false"/>
        </p:nvSpPr>
        <p:spPr>
          <a:xfrm flipH="false" flipV="false" rot="0">
            <a:off x="640080" y="1216152"/>
            <a:ext cx="1783079" cy="256031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100">
                <a:solidFill>
                  <a:srgbClr val="F4A261"/>
                </a:solidFill>
                <a:latin typeface="+mn-lt"/>
                <a:ea typeface="+mn-ea"/>
                <a:cs typeface="+mn-cs"/>
              </a:rPr>
              <a:t>Mecanismo de acción: 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21" name="Shape 221"/>
          <p:cNvSpPr txBox="false"/>
          <p:nvPr isPhoto="false"/>
        </p:nvSpPr>
        <p:spPr>
          <a:xfrm flipH="false" flipV="false" rot="0">
            <a:off x="640080" y="1463040"/>
            <a:ext cx="7863840" cy="347472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05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Los principios amargos estimulan los receptores gustativos y vagales, activando la secreción de ácido gástrico, jugo pancreático y bilis. Mejoran la digestión global.</a:t>
            </a:r>
            <a:endParaRPr sz="10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22" name="Shape 222"/>
          <p:cNvSpPr txBox="false"/>
          <p:nvPr isPhoto="false"/>
        </p:nvSpPr>
        <p:spPr>
          <a:xfrm flipH="false" flipV="false" rot="0">
            <a:off x="457200" y="2011679"/>
            <a:ext cx="8229600" cy="301751"/>
          </a:xfrm>
          <a:prstGeom prst="rect">
            <a:avLst/>
          </a:prstGeom>
          <a:solidFill>
            <a:srgbClr val="F4A261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23" name="Shape 223"/>
          <p:cNvSpPr txBox="false"/>
          <p:nvPr isPhoto="false"/>
        </p:nvSpPr>
        <p:spPr>
          <a:xfrm flipH="false" flipV="false" rot="0">
            <a:off x="548640" y="2011679"/>
            <a:ext cx="2103120" cy="301751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Planta / Nombre científico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24" name="Shape 224"/>
          <p:cNvSpPr txBox="false"/>
          <p:nvPr isPhoto="false"/>
        </p:nvSpPr>
        <p:spPr>
          <a:xfrm flipH="false" flipV="false" rot="0">
            <a:off x="2651760" y="2011679"/>
            <a:ext cx="1828799" cy="301751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Comp. activo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25" name="Shape 225"/>
          <p:cNvSpPr txBox="false"/>
          <p:nvPr isPhoto="false"/>
        </p:nvSpPr>
        <p:spPr>
          <a:xfrm flipH="false" flipV="false" rot="0">
            <a:off x="4480560" y="2011679"/>
            <a:ext cx="2423159" cy="301751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Indicación principal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26" name="Shape 226"/>
          <p:cNvSpPr txBox="false"/>
          <p:nvPr isPhoto="false"/>
        </p:nvSpPr>
        <p:spPr>
          <a:xfrm flipH="false" flipV="false" rot="0">
            <a:off x="6903719" y="2011679"/>
            <a:ext cx="1737359" cy="301751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Forma de uso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27" name="Shape 227"/>
          <p:cNvSpPr txBox="false"/>
          <p:nvPr isPhoto="false"/>
        </p:nvSpPr>
        <p:spPr>
          <a:xfrm flipH="false" flipV="false" rot="0">
            <a:off x="457200" y="2331720"/>
            <a:ext cx="8229600" cy="566928"/>
          </a:xfrm>
          <a:prstGeom prst="rect">
            <a:avLst/>
          </a:prstGeom>
          <a:solidFill>
            <a:srgbClr val="FFFFFF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28" name="Shape 228"/>
          <p:cNvSpPr txBox="false"/>
          <p:nvPr isPhoto="false"/>
        </p:nvSpPr>
        <p:spPr>
          <a:xfrm flipH="false" flipV="false" rot="0">
            <a:off x="594360" y="2386584"/>
            <a:ext cx="2011679" cy="237744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200">
                <a:solidFill>
                  <a:srgbClr val="1B4332"/>
                </a:solidFill>
                <a:latin typeface="+mn-lt"/>
                <a:ea typeface="+mn-ea"/>
                <a:cs typeface="+mn-cs"/>
              </a:rPr>
              <a:t>Jengibre</a:t>
            </a:r>
            <a:endParaRPr sz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29" name="Shape 229"/>
          <p:cNvSpPr txBox="false"/>
          <p:nvPr isPhoto="false"/>
        </p:nvSpPr>
        <p:spPr>
          <a:xfrm flipH="false" flipV="false" rot="0">
            <a:off x="594360" y="2633472"/>
            <a:ext cx="2011679" cy="201167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i="true" sz="90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Zingiber officinale</a:t>
            </a:r>
            <a:endParaRPr sz="9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0" name="Shape 230"/>
          <p:cNvSpPr txBox="false"/>
          <p:nvPr isPhoto="false"/>
        </p:nvSpPr>
        <p:spPr>
          <a:xfrm flipH="false" flipV="false" rot="0">
            <a:off x="2651760" y="2423160"/>
            <a:ext cx="1783080" cy="41148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950">
                <a:solidFill>
                  <a:srgbClr val="F4A261"/>
                </a:solidFill>
                <a:latin typeface="+mn-lt"/>
                <a:ea typeface="+mn-ea"/>
                <a:cs typeface="+mn-cs"/>
              </a:rPr>
              <a:t>Gingeroles (fenilalcanoides)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1" name="Shape 231"/>
          <p:cNvSpPr txBox="false"/>
          <p:nvPr isPhoto="false"/>
        </p:nvSpPr>
        <p:spPr>
          <a:xfrm flipH="false" flipV="false" rot="0">
            <a:off x="4480560" y="2423160"/>
            <a:ext cx="2377440" cy="41148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00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Estimula la motilidad gástrica, antiemético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2" name="Shape 232"/>
          <p:cNvSpPr txBox="false"/>
          <p:nvPr isPhoto="false"/>
        </p:nvSpPr>
        <p:spPr>
          <a:xfrm flipH="false" flipV="false" rot="0">
            <a:off x="6903719" y="2423160"/>
            <a:ext cx="1691640" cy="41148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A67C52"/>
                </a:solidFill>
                <a:latin typeface="+mn-lt"/>
                <a:ea typeface="+mn-ea"/>
                <a:cs typeface="+mn-cs"/>
              </a:rPr>
              <a:t>Fresco, infusión, cáps.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3" name="Shape 233"/>
          <p:cNvSpPr txBox="false"/>
          <p:nvPr isPhoto="false"/>
        </p:nvSpPr>
        <p:spPr>
          <a:xfrm flipH="false" flipV="false" rot="0">
            <a:off x="457200" y="2907792"/>
            <a:ext cx="8229600" cy="566928"/>
          </a:xfrm>
          <a:prstGeom prst="rect">
            <a:avLst/>
          </a:prstGeom>
          <a:solidFill>
            <a:srgbClr val="F0E6D6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4" name="Shape 234"/>
          <p:cNvSpPr txBox="false"/>
          <p:nvPr isPhoto="false"/>
        </p:nvSpPr>
        <p:spPr>
          <a:xfrm flipH="false" flipV="false" rot="0">
            <a:off x="594360" y="2962656"/>
            <a:ext cx="2011679" cy="237744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200">
                <a:solidFill>
                  <a:srgbClr val="1B4332"/>
                </a:solidFill>
                <a:latin typeface="+mn-lt"/>
                <a:ea typeface="+mn-ea"/>
                <a:cs typeface="+mn-cs"/>
              </a:rPr>
              <a:t>Alcaucil</a:t>
            </a:r>
            <a:endParaRPr sz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5" name="Shape 235"/>
          <p:cNvSpPr txBox="false"/>
          <p:nvPr isPhoto="false"/>
        </p:nvSpPr>
        <p:spPr>
          <a:xfrm flipH="false" flipV="false" rot="0">
            <a:off x="594360" y="3209544"/>
            <a:ext cx="2011679" cy="201167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i="true" sz="90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Cynara scolymus</a:t>
            </a:r>
            <a:endParaRPr sz="9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6" name="Shape 236"/>
          <p:cNvSpPr txBox="false"/>
          <p:nvPr isPhoto="false"/>
        </p:nvSpPr>
        <p:spPr>
          <a:xfrm flipH="false" flipV="false" rot="0">
            <a:off x="2651760" y="2999232"/>
            <a:ext cx="1783080" cy="41147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950">
                <a:solidFill>
                  <a:srgbClr val="F4A261"/>
                </a:solidFill>
                <a:latin typeface="+mn-lt"/>
                <a:ea typeface="+mn-ea"/>
                <a:cs typeface="+mn-cs"/>
              </a:rPr>
              <a:t>Cinarina (ácido fenólico)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7" name="Shape 237"/>
          <p:cNvSpPr txBox="false"/>
          <p:nvPr isPhoto="false"/>
        </p:nvSpPr>
        <p:spPr>
          <a:xfrm flipH="false" flipV="false" rot="0">
            <a:off x="4480560" y="2999232"/>
            <a:ext cx="2377440" cy="41147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00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Dispepsia funcional, digestión lenta y pesada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8" name="Shape 238"/>
          <p:cNvSpPr txBox="false"/>
          <p:nvPr isPhoto="false"/>
        </p:nvSpPr>
        <p:spPr>
          <a:xfrm flipH="false" flipV="false" rot="0">
            <a:off x="6903719" y="2999232"/>
            <a:ext cx="1691640" cy="41147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A67C52"/>
                </a:solidFill>
                <a:latin typeface="+mn-lt"/>
                <a:ea typeface="+mn-ea"/>
                <a:cs typeface="+mn-cs"/>
              </a:rPr>
              <a:t>Extracto estandarizado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9" name="Shape 239"/>
          <p:cNvSpPr txBox="false"/>
          <p:nvPr isPhoto="false"/>
        </p:nvSpPr>
        <p:spPr>
          <a:xfrm flipH="false" flipV="false" rot="0">
            <a:off x="457200" y="3483864"/>
            <a:ext cx="8229600" cy="566928"/>
          </a:xfrm>
          <a:prstGeom prst="rect">
            <a:avLst/>
          </a:prstGeom>
          <a:solidFill>
            <a:srgbClr val="FFFFFF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40" name="Shape 240"/>
          <p:cNvSpPr txBox="false"/>
          <p:nvPr isPhoto="false"/>
        </p:nvSpPr>
        <p:spPr>
          <a:xfrm flipH="false" flipV="false" rot="0">
            <a:off x="594360" y="3538728"/>
            <a:ext cx="2011679" cy="237744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200">
                <a:solidFill>
                  <a:srgbClr val="1B4332"/>
                </a:solidFill>
                <a:latin typeface="+mn-lt"/>
                <a:ea typeface="+mn-ea"/>
                <a:cs typeface="+mn-cs"/>
              </a:rPr>
              <a:t>Genciana</a:t>
            </a:r>
            <a:endParaRPr sz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41" name="Shape 241"/>
          <p:cNvSpPr txBox="false"/>
          <p:nvPr isPhoto="false"/>
        </p:nvSpPr>
        <p:spPr>
          <a:xfrm flipH="false" flipV="false" rot="0">
            <a:off x="594360" y="3785615"/>
            <a:ext cx="2011679" cy="201167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i="true" sz="90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Gentiana lutea</a:t>
            </a:r>
            <a:endParaRPr sz="9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42" name="Shape 242"/>
          <p:cNvSpPr txBox="false"/>
          <p:nvPr isPhoto="false"/>
        </p:nvSpPr>
        <p:spPr>
          <a:xfrm flipH="false" flipV="false" rot="0">
            <a:off x="2651760" y="3575303"/>
            <a:ext cx="1783080" cy="41147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950">
                <a:solidFill>
                  <a:srgbClr val="F4A261"/>
                </a:solidFill>
                <a:latin typeface="+mn-lt"/>
                <a:ea typeface="+mn-ea"/>
                <a:cs typeface="+mn-cs"/>
              </a:rPr>
              <a:t>Genciopicrina (iridoide amargo)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43" name="Shape 243"/>
          <p:cNvSpPr txBox="false"/>
          <p:nvPr isPhoto="false"/>
        </p:nvSpPr>
        <p:spPr>
          <a:xfrm flipH="false" flipV="false" rot="0">
            <a:off x="4480560" y="3575303"/>
            <a:ext cx="2377440" cy="41147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00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Inapetencia, digestiones muy lentas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44" name="Shape 244"/>
          <p:cNvSpPr txBox="false"/>
          <p:nvPr isPhoto="false"/>
        </p:nvSpPr>
        <p:spPr>
          <a:xfrm flipH="false" flipV="false" rot="0">
            <a:off x="6903719" y="3575303"/>
            <a:ext cx="1691640" cy="41147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A67C52"/>
                </a:solidFill>
                <a:latin typeface="+mn-lt"/>
                <a:ea typeface="+mn-ea"/>
                <a:cs typeface="+mn-cs"/>
              </a:rPr>
              <a:t>Tintura, extracto (amargo)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45" name="Shape 245"/>
          <p:cNvSpPr txBox="false"/>
          <p:nvPr isPhoto="false"/>
        </p:nvSpPr>
        <p:spPr>
          <a:xfrm flipH="false" flipV="false" rot="0">
            <a:off x="457200" y="4059936"/>
            <a:ext cx="8229600" cy="566928"/>
          </a:xfrm>
          <a:prstGeom prst="rect">
            <a:avLst/>
          </a:prstGeom>
          <a:solidFill>
            <a:srgbClr val="F0E6D6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46" name="Shape 246"/>
          <p:cNvSpPr txBox="false"/>
          <p:nvPr isPhoto="false"/>
        </p:nvSpPr>
        <p:spPr>
          <a:xfrm flipH="false" flipV="false" rot="0">
            <a:off x="594360" y="4114800"/>
            <a:ext cx="2011679" cy="237744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200">
                <a:solidFill>
                  <a:srgbClr val="1B4332"/>
                </a:solidFill>
                <a:latin typeface="+mn-lt"/>
                <a:ea typeface="+mn-ea"/>
                <a:cs typeface="+mn-cs"/>
              </a:rPr>
              <a:t>Romero</a:t>
            </a:r>
            <a:endParaRPr sz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47" name="Shape 247"/>
          <p:cNvSpPr txBox="false"/>
          <p:nvPr isPhoto="false"/>
        </p:nvSpPr>
        <p:spPr>
          <a:xfrm flipH="false" flipV="false" rot="0">
            <a:off x="594360" y="4361688"/>
            <a:ext cx="2011679" cy="201167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i="true" sz="90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Rosmarinus officinalis</a:t>
            </a:r>
            <a:endParaRPr sz="9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48" name="Shape 248"/>
          <p:cNvSpPr txBox="false"/>
          <p:nvPr isPhoto="false"/>
        </p:nvSpPr>
        <p:spPr>
          <a:xfrm flipH="false" flipV="false" rot="0">
            <a:off x="2651760" y="4151376"/>
            <a:ext cx="1783080" cy="41147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950">
                <a:solidFill>
                  <a:srgbClr val="F4A261"/>
                </a:solidFill>
                <a:latin typeface="+mn-lt"/>
                <a:ea typeface="+mn-ea"/>
                <a:cs typeface="+mn-cs"/>
              </a:rPr>
              <a:t>Ácido rosmarínico (polifenol)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49" name="Shape 249"/>
          <p:cNvSpPr txBox="false"/>
          <p:nvPr isPhoto="false"/>
        </p:nvSpPr>
        <p:spPr>
          <a:xfrm flipH="false" flipV="false" rot="0">
            <a:off x="4480560" y="4151376"/>
            <a:ext cx="2377440" cy="41147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00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Digestión pesada, espasmos leves, carminativo suave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50" name="Shape 250"/>
          <p:cNvSpPr txBox="false"/>
          <p:nvPr isPhoto="false"/>
        </p:nvSpPr>
        <p:spPr>
          <a:xfrm flipH="false" flipV="false" rot="0">
            <a:off x="6903719" y="4151376"/>
            <a:ext cx="1691640" cy="41147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A67C52"/>
                </a:solidFill>
                <a:latin typeface="+mn-lt"/>
                <a:ea typeface="+mn-ea"/>
                <a:cs typeface="+mn-cs"/>
              </a:rPr>
              <a:t>Infusión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51" name="Shape 251"/>
          <p:cNvSpPr txBox="false"/>
          <p:nvPr isPhoto="false"/>
        </p:nvSpPr>
        <p:spPr>
          <a:xfrm flipH="false" flipV="false" rot="0">
            <a:off x="457200" y="4645152"/>
            <a:ext cx="8229600" cy="384047"/>
          </a:xfrm>
          <a:prstGeom prst="rect">
            <a:avLst/>
          </a:prstGeom>
          <a:solidFill>
            <a:srgbClr val="FEF3E2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52" name="Shape 252"/>
          <p:cNvSpPr txBox="false"/>
          <p:nvPr isPhoto="false"/>
        </p:nvSpPr>
        <p:spPr>
          <a:xfrm flipH="false" flipV="false" rot="0">
            <a:off x="457200" y="4645152"/>
            <a:ext cx="64008" cy="384047"/>
          </a:xfrm>
          <a:prstGeom prst="rect">
            <a:avLst/>
          </a:prstGeom>
          <a:solidFill>
            <a:srgbClr val="F4A261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53" name="Shape 253"/>
          <p:cNvSpPr txBox="false"/>
          <p:nvPr isPhoto="false"/>
        </p:nvSpPr>
        <p:spPr>
          <a:xfrm flipH="false" flipV="false" rot="0">
            <a:off x="594360" y="4645152"/>
            <a:ext cx="7955280" cy="384047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00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⚠️  La genciana está contraindicada en úlcera gastroduodenal activa e hipertensión arterial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10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54" name="GroupShape 25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55" name="Shape 255"/>
          <p:cNvSpPr txBox="false"/>
          <p:nvPr isPhoto="false"/>
        </p:nvSpPr>
        <p:spPr>
          <a:xfrm flipH="false" flipV="false" rot="0">
            <a:off x="0" y="0"/>
            <a:ext cx="9144000" cy="1051560"/>
          </a:xfrm>
          <a:prstGeom prst="rect">
            <a:avLst/>
          </a:prstGeom>
          <a:solidFill>
            <a:srgbClr val="9B2335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56" name="Shape 256"/>
          <p:cNvSpPr txBox="false"/>
          <p:nvPr isPhoto="false"/>
        </p:nvSpPr>
        <p:spPr>
          <a:xfrm flipH="false" flipV="false" rot="0">
            <a:off x="457200" y="91440"/>
            <a:ext cx="7772400" cy="50291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240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Antiinflamatorias de la Mucosa</a:t>
            </a:r>
            <a:endParaRPr sz="24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57" name="Shape 257"/>
          <p:cNvSpPr txBox="false"/>
          <p:nvPr isPhoto="false"/>
        </p:nvSpPr>
        <p:spPr>
          <a:xfrm flipH="false" flipV="false" rot="0">
            <a:off x="457200" y="594360"/>
            <a:ext cx="6858000" cy="347472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i="true" sz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Protegen y calman el revestimiento interno del tubo digestivo</a:t>
            </a:r>
            <a:endParaRPr sz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58" name="Shape 258"/>
          <p:cNvSpPr txBox="false"/>
          <p:nvPr isPhoto="false"/>
        </p:nvSpPr>
        <p:spPr>
          <a:xfrm flipH="false" flipV="false" rot="0">
            <a:off x="6858000" y="338328"/>
            <a:ext cx="2011680" cy="274319"/>
          </a:xfrm>
          <a:prstGeom prst="roundRect">
            <a:avLst>
              <a:gd fmla="val 16667" name="adj"/>
            </a:avLst>
          </a:prstGeom>
          <a:solidFill>
            <a:srgbClr val="FFFFFF">
              <a:alpha val="30000"/>
            </a:srgbClr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59" name="Shape 259"/>
          <p:cNvSpPr txBox="false"/>
          <p:nvPr isPhoto="false"/>
        </p:nvSpPr>
        <p:spPr>
          <a:xfrm flipH="false" flipV="false" rot="0">
            <a:off x="6858000" y="338328"/>
            <a:ext cx="2011680" cy="274319"/>
          </a:xfrm>
          <a:prstGeom prst="rect">
            <a:avLst/>
          </a:prstGeom>
          <a:noFill/>
          <a:ln>
            <a:prstDash val="solid"/>
          </a:ln>
        </p:spPr>
        <p:txBody>
          <a:bodyPr anchor="ctr" bIns="0" lIns="0" rIns="0" tIns="0" wrap="square"/>
          <a:p>
            <a:pPr algn="ctr" indent="0" marL="0"/>
            <a:r>
              <a:rPr b="true" sz="9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📍 Esófago · Estómago · Intestino</a:t>
            </a:r>
            <a:endParaRPr sz="9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60" name="Shape 260"/>
          <p:cNvSpPr txBox="false"/>
          <p:nvPr isPhoto="false"/>
        </p:nvSpPr>
        <p:spPr>
          <a:xfrm flipH="false" flipV="false" rot="0">
            <a:off x="457200" y="1188720"/>
            <a:ext cx="8229600" cy="658368"/>
          </a:xfrm>
          <a:prstGeom prst="rect">
            <a:avLst/>
          </a:prstGeom>
          <a:solidFill>
            <a:srgbClr val="9B2335">
              <a:alpha val="12000"/>
            </a:srgbClr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61" name="Shape 261"/>
          <p:cNvSpPr txBox="false"/>
          <p:nvPr isPhoto="false"/>
        </p:nvSpPr>
        <p:spPr>
          <a:xfrm flipH="false" flipV="false" rot="0">
            <a:off x="640080" y="1216152"/>
            <a:ext cx="1783079" cy="256031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100">
                <a:solidFill>
                  <a:srgbClr val="9B2335"/>
                </a:solidFill>
                <a:latin typeface="+mn-lt"/>
                <a:ea typeface="+mn-ea"/>
                <a:cs typeface="+mn-cs"/>
              </a:rPr>
              <a:t>Mecanismo de acción: 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62" name="Shape 262"/>
          <p:cNvSpPr txBox="false"/>
          <p:nvPr isPhoto="false"/>
        </p:nvSpPr>
        <p:spPr>
          <a:xfrm flipH="false" flipV="false" rot="0">
            <a:off x="640080" y="1463040"/>
            <a:ext cx="7863840" cy="347472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05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Contienen mucílagos, flavonoides o principios activos que forman una capa protectora sobre la mucosa, reducen la inflamación local y favorecen la cicatrización.</a:t>
            </a:r>
            <a:endParaRPr sz="10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63" name="Shape 263"/>
          <p:cNvSpPr txBox="false"/>
          <p:nvPr isPhoto="false"/>
        </p:nvSpPr>
        <p:spPr>
          <a:xfrm flipH="false" flipV="false" rot="0">
            <a:off x="457200" y="2011679"/>
            <a:ext cx="8229600" cy="301751"/>
          </a:xfrm>
          <a:prstGeom prst="rect">
            <a:avLst/>
          </a:prstGeom>
          <a:solidFill>
            <a:srgbClr val="9B2335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64" name="Shape 264"/>
          <p:cNvSpPr txBox="false"/>
          <p:nvPr isPhoto="false"/>
        </p:nvSpPr>
        <p:spPr>
          <a:xfrm flipH="false" flipV="false" rot="0">
            <a:off x="548640" y="2011679"/>
            <a:ext cx="2103120" cy="301751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Planta / Nombre científico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65" name="Shape 265"/>
          <p:cNvSpPr txBox="false"/>
          <p:nvPr isPhoto="false"/>
        </p:nvSpPr>
        <p:spPr>
          <a:xfrm flipH="false" flipV="false" rot="0">
            <a:off x="2651760" y="2011679"/>
            <a:ext cx="1828799" cy="301751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Comp. activo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66" name="Shape 266"/>
          <p:cNvSpPr txBox="false"/>
          <p:nvPr isPhoto="false"/>
        </p:nvSpPr>
        <p:spPr>
          <a:xfrm flipH="false" flipV="false" rot="0">
            <a:off x="4480560" y="2011679"/>
            <a:ext cx="2423159" cy="301751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Indicación principal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67" name="Shape 267"/>
          <p:cNvSpPr txBox="false"/>
          <p:nvPr isPhoto="false"/>
        </p:nvSpPr>
        <p:spPr>
          <a:xfrm flipH="false" flipV="false" rot="0">
            <a:off x="6903719" y="2011679"/>
            <a:ext cx="1737359" cy="301751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Forma de uso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68" name="Shape 268"/>
          <p:cNvSpPr txBox="false"/>
          <p:nvPr isPhoto="false"/>
        </p:nvSpPr>
        <p:spPr>
          <a:xfrm flipH="false" flipV="false" rot="0">
            <a:off x="457200" y="2331720"/>
            <a:ext cx="8229600" cy="566928"/>
          </a:xfrm>
          <a:prstGeom prst="rect">
            <a:avLst/>
          </a:prstGeom>
          <a:solidFill>
            <a:srgbClr val="FFFFFF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69" name="Shape 269"/>
          <p:cNvSpPr txBox="false"/>
          <p:nvPr isPhoto="false"/>
        </p:nvSpPr>
        <p:spPr>
          <a:xfrm flipH="false" flipV="false" rot="0">
            <a:off x="594360" y="2386584"/>
            <a:ext cx="2011679" cy="237744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200">
                <a:solidFill>
                  <a:srgbClr val="1B4332"/>
                </a:solidFill>
                <a:latin typeface="+mn-lt"/>
                <a:ea typeface="+mn-ea"/>
                <a:cs typeface="+mn-cs"/>
              </a:rPr>
              <a:t>Manzanilla</a:t>
            </a:r>
            <a:endParaRPr sz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70" name="Shape 270"/>
          <p:cNvSpPr txBox="false"/>
          <p:nvPr isPhoto="false"/>
        </p:nvSpPr>
        <p:spPr>
          <a:xfrm flipH="false" flipV="false" rot="0">
            <a:off x="594360" y="2633472"/>
            <a:ext cx="2011679" cy="201167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i="true" sz="90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Matricaria chamomilla</a:t>
            </a:r>
            <a:endParaRPr sz="9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71" name="Shape 271"/>
          <p:cNvSpPr txBox="false"/>
          <p:nvPr isPhoto="false"/>
        </p:nvSpPr>
        <p:spPr>
          <a:xfrm flipH="false" flipV="false" rot="0">
            <a:off x="2651760" y="2423160"/>
            <a:ext cx="1783080" cy="41148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950">
                <a:solidFill>
                  <a:srgbClr val="9B2335"/>
                </a:solidFill>
                <a:latin typeface="+mn-lt"/>
                <a:ea typeface="+mn-ea"/>
                <a:cs typeface="+mn-cs"/>
              </a:rPr>
              <a:t>Apigenina, alfa-bisabolol (flavon./terp.)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72" name="Shape 272"/>
          <p:cNvSpPr txBox="false"/>
          <p:nvPr isPhoto="false"/>
        </p:nvSpPr>
        <p:spPr>
          <a:xfrm flipH="false" flipV="false" rot="0">
            <a:off x="4480560" y="2423160"/>
            <a:ext cx="2377440" cy="41148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00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Gastritis, mucosa irritada, colon inflamado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73" name="Shape 273"/>
          <p:cNvSpPr txBox="false"/>
          <p:nvPr isPhoto="false"/>
        </p:nvSpPr>
        <p:spPr>
          <a:xfrm flipH="false" flipV="false" rot="0">
            <a:off x="6903719" y="2423160"/>
            <a:ext cx="1691640" cy="41148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A67C52"/>
                </a:solidFill>
                <a:latin typeface="+mn-lt"/>
                <a:ea typeface="+mn-ea"/>
                <a:cs typeface="+mn-cs"/>
              </a:rPr>
              <a:t>Infusión concentrada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74" name="Shape 274"/>
          <p:cNvSpPr txBox="false"/>
          <p:nvPr isPhoto="false"/>
        </p:nvSpPr>
        <p:spPr>
          <a:xfrm flipH="false" flipV="false" rot="0">
            <a:off x="457200" y="2907792"/>
            <a:ext cx="8229600" cy="566928"/>
          </a:xfrm>
          <a:prstGeom prst="rect">
            <a:avLst/>
          </a:prstGeom>
          <a:solidFill>
            <a:srgbClr val="F0E6D6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75" name="Shape 275"/>
          <p:cNvSpPr txBox="false"/>
          <p:nvPr isPhoto="false"/>
        </p:nvSpPr>
        <p:spPr>
          <a:xfrm flipH="false" flipV="false" rot="0">
            <a:off x="594360" y="2962656"/>
            <a:ext cx="2011679" cy="237744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200">
                <a:solidFill>
                  <a:srgbClr val="1B4332"/>
                </a:solidFill>
                <a:latin typeface="+mn-lt"/>
                <a:ea typeface="+mn-ea"/>
                <a:cs typeface="+mn-cs"/>
              </a:rPr>
              <a:t>Regaliz</a:t>
            </a:r>
            <a:endParaRPr sz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76" name="Shape 276"/>
          <p:cNvSpPr txBox="false"/>
          <p:nvPr isPhoto="false"/>
        </p:nvSpPr>
        <p:spPr>
          <a:xfrm flipH="false" flipV="false" rot="0">
            <a:off x="594360" y="3209544"/>
            <a:ext cx="2011679" cy="201167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i="true" sz="90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Glycyrrhiza glabra</a:t>
            </a:r>
            <a:endParaRPr sz="9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77" name="Shape 277"/>
          <p:cNvSpPr txBox="false"/>
          <p:nvPr isPhoto="false"/>
        </p:nvSpPr>
        <p:spPr>
          <a:xfrm flipH="false" flipV="false" rot="0">
            <a:off x="2651760" y="2999232"/>
            <a:ext cx="1783080" cy="41147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950">
                <a:solidFill>
                  <a:srgbClr val="9B2335"/>
                </a:solidFill>
                <a:latin typeface="+mn-lt"/>
                <a:ea typeface="+mn-ea"/>
                <a:cs typeface="+mn-cs"/>
              </a:rPr>
              <a:t>Glicirricina / DGL (triterpeno)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78" name="Shape 278"/>
          <p:cNvSpPr txBox="false"/>
          <p:nvPr isPhoto="false"/>
        </p:nvSpPr>
        <p:spPr>
          <a:xfrm flipH="false" flipV="false" rot="0">
            <a:off x="4480560" y="2999232"/>
            <a:ext cx="2377440" cy="41147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00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Úlcera gástrica, esofagitis, mucosa inflamada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79" name="Shape 279"/>
          <p:cNvSpPr txBox="false"/>
          <p:nvPr isPhoto="false"/>
        </p:nvSpPr>
        <p:spPr>
          <a:xfrm flipH="false" flipV="false" rot="0">
            <a:off x="6903719" y="2999232"/>
            <a:ext cx="1691640" cy="41147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A67C52"/>
                </a:solidFill>
                <a:latin typeface="+mn-lt"/>
                <a:ea typeface="+mn-ea"/>
                <a:cs typeface="+mn-cs"/>
              </a:rPr>
              <a:t>Extracto DGL (desglicolado)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80" name="Shape 280"/>
          <p:cNvSpPr txBox="false"/>
          <p:nvPr isPhoto="false"/>
        </p:nvSpPr>
        <p:spPr>
          <a:xfrm flipH="false" flipV="false" rot="0">
            <a:off x="457200" y="3483864"/>
            <a:ext cx="8229600" cy="566928"/>
          </a:xfrm>
          <a:prstGeom prst="rect">
            <a:avLst/>
          </a:prstGeom>
          <a:solidFill>
            <a:srgbClr val="FFFFFF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81" name="Shape 281"/>
          <p:cNvSpPr txBox="false"/>
          <p:nvPr isPhoto="false"/>
        </p:nvSpPr>
        <p:spPr>
          <a:xfrm flipH="false" flipV="false" rot="0">
            <a:off x="594360" y="3538728"/>
            <a:ext cx="2011679" cy="237744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200">
                <a:solidFill>
                  <a:srgbClr val="1B4332"/>
                </a:solidFill>
                <a:latin typeface="+mn-lt"/>
                <a:ea typeface="+mn-ea"/>
                <a:cs typeface="+mn-cs"/>
              </a:rPr>
              <a:t>Malva</a:t>
            </a:r>
            <a:endParaRPr sz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82" name="Shape 282"/>
          <p:cNvSpPr txBox="false"/>
          <p:nvPr isPhoto="false"/>
        </p:nvSpPr>
        <p:spPr>
          <a:xfrm flipH="false" flipV="false" rot="0">
            <a:off x="594360" y="3785615"/>
            <a:ext cx="2011679" cy="201167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i="true" sz="90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Malva sylvestris</a:t>
            </a:r>
            <a:endParaRPr sz="9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83" name="Shape 283"/>
          <p:cNvSpPr txBox="false"/>
          <p:nvPr isPhoto="false"/>
        </p:nvSpPr>
        <p:spPr>
          <a:xfrm flipH="false" flipV="false" rot="0">
            <a:off x="2651760" y="3575303"/>
            <a:ext cx="1783080" cy="41147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950">
                <a:solidFill>
                  <a:srgbClr val="9B2335"/>
                </a:solidFill>
                <a:latin typeface="+mn-lt"/>
                <a:ea typeface="+mn-ea"/>
                <a:cs typeface="+mn-cs"/>
              </a:rPr>
              <a:t>Mucílagos (polisacáridos)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84" name="Shape 284"/>
          <p:cNvSpPr txBox="false"/>
          <p:nvPr isPhoto="false"/>
        </p:nvSpPr>
        <p:spPr>
          <a:xfrm flipH="false" flipV="false" rot="0">
            <a:off x="4480560" y="3575303"/>
            <a:ext cx="2377440" cy="41147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00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Mucositis, irritación intestinal, estreñimiento leve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85" name="Shape 285"/>
          <p:cNvSpPr txBox="false"/>
          <p:nvPr isPhoto="false"/>
        </p:nvSpPr>
        <p:spPr>
          <a:xfrm flipH="false" flipV="false" rot="0">
            <a:off x="6903719" y="3575303"/>
            <a:ext cx="1691640" cy="41147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A67C52"/>
                </a:solidFill>
                <a:latin typeface="+mn-lt"/>
                <a:ea typeface="+mn-ea"/>
                <a:cs typeface="+mn-cs"/>
              </a:rPr>
              <a:t>Infusión de flores/hojas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86" name="Shape 286"/>
          <p:cNvSpPr txBox="false"/>
          <p:nvPr isPhoto="false"/>
        </p:nvSpPr>
        <p:spPr>
          <a:xfrm flipH="false" flipV="false" rot="0">
            <a:off x="457200" y="4059936"/>
            <a:ext cx="8229600" cy="566928"/>
          </a:xfrm>
          <a:prstGeom prst="rect">
            <a:avLst/>
          </a:prstGeom>
          <a:solidFill>
            <a:srgbClr val="F0E6D6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87" name="Shape 287"/>
          <p:cNvSpPr txBox="false"/>
          <p:nvPr isPhoto="false"/>
        </p:nvSpPr>
        <p:spPr>
          <a:xfrm flipH="false" flipV="false" rot="0">
            <a:off x="594360" y="4114800"/>
            <a:ext cx="2011679" cy="237744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200">
                <a:solidFill>
                  <a:srgbClr val="1B4332"/>
                </a:solidFill>
                <a:latin typeface="+mn-lt"/>
                <a:ea typeface="+mn-ea"/>
                <a:cs typeface="+mn-cs"/>
              </a:rPr>
              <a:t>Sábila</a:t>
            </a:r>
            <a:endParaRPr sz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88" name="Shape 288"/>
          <p:cNvSpPr txBox="false"/>
          <p:nvPr isPhoto="false"/>
        </p:nvSpPr>
        <p:spPr>
          <a:xfrm flipH="false" flipV="false" rot="0">
            <a:off x="594360" y="4361688"/>
            <a:ext cx="2011679" cy="201167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i="true" sz="90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Aloe vera</a:t>
            </a:r>
            <a:endParaRPr sz="9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89" name="Shape 289"/>
          <p:cNvSpPr txBox="false"/>
          <p:nvPr isPhoto="false"/>
        </p:nvSpPr>
        <p:spPr>
          <a:xfrm flipH="false" flipV="false" rot="0">
            <a:off x="2651760" y="4151376"/>
            <a:ext cx="1783080" cy="41147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950">
                <a:solidFill>
                  <a:srgbClr val="9B2335"/>
                </a:solidFill>
                <a:latin typeface="+mn-lt"/>
                <a:ea typeface="+mn-ea"/>
                <a:cs typeface="+mn-cs"/>
              </a:rPr>
              <a:t>Acemanano (polisacárido)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90" name="Shape 290"/>
          <p:cNvSpPr txBox="false"/>
          <p:nvPr isPhoto="false"/>
        </p:nvSpPr>
        <p:spPr>
          <a:xfrm flipH="false" flipV="false" rot="0">
            <a:off x="4480560" y="4151376"/>
            <a:ext cx="2377440" cy="41147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00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Colon irritable, constipación, mucosa intestinal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91" name="Shape 291"/>
          <p:cNvSpPr txBox="false"/>
          <p:nvPr isPhoto="false"/>
        </p:nvSpPr>
        <p:spPr>
          <a:xfrm flipH="false" flipV="false" rot="0">
            <a:off x="6903719" y="4151376"/>
            <a:ext cx="1691640" cy="41147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A67C52"/>
                </a:solidFill>
                <a:latin typeface="+mn-lt"/>
                <a:ea typeface="+mn-ea"/>
                <a:cs typeface="+mn-cs"/>
              </a:rPr>
              <a:t>Jugo (uso interno)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92" name="Shape 292"/>
          <p:cNvSpPr txBox="false"/>
          <p:nvPr isPhoto="false"/>
        </p:nvSpPr>
        <p:spPr>
          <a:xfrm flipH="false" flipV="false" rot="0">
            <a:off x="457200" y="4645152"/>
            <a:ext cx="8229600" cy="384047"/>
          </a:xfrm>
          <a:prstGeom prst="rect">
            <a:avLst/>
          </a:prstGeom>
          <a:solidFill>
            <a:srgbClr val="FEF3E2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93" name="Shape 293"/>
          <p:cNvSpPr txBox="false"/>
          <p:nvPr isPhoto="false"/>
        </p:nvSpPr>
        <p:spPr>
          <a:xfrm flipH="false" flipV="false" rot="0">
            <a:off x="457200" y="4645152"/>
            <a:ext cx="64008" cy="384047"/>
          </a:xfrm>
          <a:prstGeom prst="rect">
            <a:avLst/>
          </a:prstGeom>
          <a:solidFill>
            <a:srgbClr val="F4A261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94" name="Shape 294"/>
          <p:cNvSpPr txBox="false"/>
          <p:nvPr isPhoto="false"/>
        </p:nvSpPr>
        <p:spPr>
          <a:xfrm flipH="false" flipV="false" rot="0">
            <a:off x="594360" y="4645152"/>
            <a:ext cx="7955280" cy="384047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00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⚠️  El regaliz convencional (con glicirricina) puede provocar hipertensión y retención de sodio. Preferir el extracto DGL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11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95" name="GroupShape 295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96" name="Shape 296"/>
          <p:cNvSpPr txBox="false"/>
          <p:nvPr isPhoto="false"/>
        </p:nvSpPr>
        <p:spPr>
          <a:xfrm flipH="false" flipV="false" rot="0">
            <a:off x="0" y="0"/>
            <a:ext cx="9144000" cy="1051560"/>
          </a:xfrm>
          <a:prstGeom prst="rect">
            <a:avLst/>
          </a:prstGeom>
          <a:solidFill>
            <a:srgbClr val="2D6A4F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97" name="Shape 297"/>
          <p:cNvSpPr txBox="false"/>
          <p:nvPr isPhoto="false"/>
        </p:nvSpPr>
        <p:spPr>
          <a:xfrm flipH="false" flipV="false" rot="0">
            <a:off x="457200" y="91440"/>
            <a:ext cx="7772400" cy="50291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240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Antieméticas</a:t>
            </a:r>
            <a:endParaRPr sz="24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98" name="Shape 298"/>
          <p:cNvSpPr txBox="false"/>
          <p:nvPr isPhoto="false"/>
        </p:nvSpPr>
        <p:spPr>
          <a:xfrm flipH="false" flipV="false" rot="0">
            <a:off x="457200" y="594360"/>
            <a:ext cx="6858000" cy="347472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i="true" sz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Reducen o alivian las náuseas y los vómitos</a:t>
            </a:r>
            <a:endParaRPr sz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99" name="Shape 299"/>
          <p:cNvSpPr txBox="false"/>
          <p:nvPr isPhoto="false"/>
        </p:nvSpPr>
        <p:spPr>
          <a:xfrm flipH="false" flipV="false" rot="0">
            <a:off x="6858000" y="338328"/>
            <a:ext cx="2011680" cy="274319"/>
          </a:xfrm>
          <a:prstGeom prst="roundRect">
            <a:avLst>
              <a:gd fmla="val 16667" name="adj"/>
            </a:avLst>
          </a:prstGeom>
          <a:solidFill>
            <a:srgbClr val="FFFFFF">
              <a:alpha val="30000"/>
            </a:srgbClr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00" name="Shape 300"/>
          <p:cNvSpPr txBox="false"/>
          <p:nvPr isPhoto="false"/>
        </p:nvSpPr>
        <p:spPr>
          <a:xfrm flipH="false" flipV="false" rot="0">
            <a:off x="6858000" y="338328"/>
            <a:ext cx="2011680" cy="274319"/>
          </a:xfrm>
          <a:prstGeom prst="rect">
            <a:avLst/>
          </a:prstGeom>
          <a:noFill/>
          <a:ln>
            <a:prstDash val="solid"/>
          </a:ln>
        </p:spPr>
        <p:txBody>
          <a:bodyPr anchor="ctr" bIns="0" lIns="0" rIns="0" tIns="0" wrap="square"/>
          <a:p>
            <a:pPr algn="ctr" indent="0" marL="0"/>
            <a:r>
              <a:rPr b="true" sz="9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📍 Estómago · SNC</a:t>
            </a:r>
            <a:endParaRPr sz="9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01" name="Shape 301"/>
          <p:cNvSpPr txBox="false"/>
          <p:nvPr isPhoto="false"/>
        </p:nvSpPr>
        <p:spPr>
          <a:xfrm flipH="false" flipV="false" rot="0">
            <a:off x="457200" y="1188720"/>
            <a:ext cx="8229600" cy="658368"/>
          </a:xfrm>
          <a:prstGeom prst="rect">
            <a:avLst/>
          </a:prstGeom>
          <a:solidFill>
            <a:srgbClr val="2D6A4F">
              <a:alpha val="12000"/>
            </a:srgbClr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02" name="Shape 302"/>
          <p:cNvSpPr txBox="false"/>
          <p:nvPr isPhoto="false"/>
        </p:nvSpPr>
        <p:spPr>
          <a:xfrm flipH="false" flipV="false" rot="0">
            <a:off x="640080" y="1216152"/>
            <a:ext cx="1783079" cy="256031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100">
                <a:solidFill>
                  <a:srgbClr val="2D6A4F"/>
                </a:solidFill>
                <a:latin typeface="+mn-lt"/>
                <a:ea typeface="+mn-ea"/>
                <a:cs typeface="+mn-cs"/>
              </a:rPr>
              <a:t>Mecanismo de acción: </a:t>
            </a:r>
            <a:endParaRPr sz="11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03" name="Shape 303"/>
          <p:cNvSpPr txBox="false"/>
          <p:nvPr isPhoto="false"/>
        </p:nvSpPr>
        <p:spPr>
          <a:xfrm flipH="false" flipV="false" rot="0">
            <a:off x="640080" y="1463040"/>
            <a:ext cx="7863840" cy="347472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05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Actúan sobre los receptores de serotonina (5-HT3) y dopamina del sistema nervioso entérico, y reducen la hipermotilidad gástrica. El jengibre es el antiemético vegetal con mayor evidencia científica.</a:t>
            </a:r>
            <a:endParaRPr sz="10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04" name="Shape 304"/>
          <p:cNvSpPr txBox="false"/>
          <p:nvPr isPhoto="false"/>
        </p:nvSpPr>
        <p:spPr>
          <a:xfrm flipH="false" flipV="false" rot="0">
            <a:off x="457200" y="2011679"/>
            <a:ext cx="8229600" cy="301751"/>
          </a:xfrm>
          <a:prstGeom prst="rect">
            <a:avLst/>
          </a:prstGeom>
          <a:solidFill>
            <a:srgbClr val="2D6A4F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05" name="Shape 305"/>
          <p:cNvSpPr txBox="false"/>
          <p:nvPr isPhoto="false"/>
        </p:nvSpPr>
        <p:spPr>
          <a:xfrm flipH="false" flipV="false" rot="0">
            <a:off x="548640" y="2011679"/>
            <a:ext cx="2103120" cy="301751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Planta / Nombre científico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06" name="Shape 306"/>
          <p:cNvSpPr txBox="false"/>
          <p:nvPr isPhoto="false"/>
        </p:nvSpPr>
        <p:spPr>
          <a:xfrm flipH="false" flipV="false" rot="0">
            <a:off x="2651760" y="2011679"/>
            <a:ext cx="1828799" cy="301751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Comp. activo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07" name="Shape 307"/>
          <p:cNvSpPr txBox="false"/>
          <p:nvPr isPhoto="false"/>
        </p:nvSpPr>
        <p:spPr>
          <a:xfrm flipH="false" flipV="false" rot="0">
            <a:off x="4480560" y="2011679"/>
            <a:ext cx="2423159" cy="301751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Indicación principal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08" name="Shape 308"/>
          <p:cNvSpPr txBox="false"/>
          <p:nvPr isPhoto="false"/>
        </p:nvSpPr>
        <p:spPr>
          <a:xfrm flipH="false" flipV="false" rot="0">
            <a:off x="6903719" y="2011679"/>
            <a:ext cx="1737359" cy="301751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Forma de uso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09" name="Shape 309"/>
          <p:cNvSpPr txBox="false"/>
          <p:nvPr isPhoto="false"/>
        </p:nvSpPr>
        <p:spPr>
          <a:xfrm flipH="false" flipV="false" rot="0">
            <a:off x="457200" y="2331720"/>
            <a:ext cx="8229600" cy="777239"/>
          </a:xfrm>
          <a:prstGeom prst="rect">
            <a:avLst/>
          </a:prstGeom>
          <a:solidFill>
            <a:srgbClr val="FFFFFF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10" name="Shape 310"/>
          <p:cNvSpPr txBox="false"/>
          <p:nvPr isPhoto="false"/>
        </p:nvSpPr>
        <p:spPr>
          <a:xfrm flipH="false" flipV="false" rot="0">
            <a:off x="594360" y="2404872"/>
            <a:ext cx="2011679" cy="27432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200">
                <a:solidFill>
                  <a:srgbClr val="1B4332"/>
                </a:solidFill>
                <a:latin typeface="+mn-lt"/>
                <a:ea typeface="+mn-ea"/>
                <a:cs typeface="+mn-cs"/>
              </a:rPr>
              <a:t>Jengibre</a:t>
            </a:r>
            <a:endParaRPr sz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11" name="Shape 311"/>
          <p:cNvSpPr txBox="false"/>
          <p:nvPr isPhoto="false"/>
        </p:nvSpPr>
        <p:spPr>
          <a:xfrm flipH="false" flipV="false" rot="0">
            <a:off x="594360" y="2715768"/>
            <a:ext cx="2011679" cy="201167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i="true" sz="90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Zingiber officinale</a:t>
            </a:r>
            <a:endParaRPr sz="9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12" name="Shape 312"/>
          <p:cNvSpPr txBox="false"/>
          <p:nvPr isPhoto="false"/>
        </p:nvSpPr>
        <p:spPr>
          <a:xfrm flipH="false" flipV="false" rot="0">
            <a:off x="2651760" y="2468880"/>
            <a:ext cx="1783080" cy="50292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950">
                <a:solidFill>
                  <a:srgbClr val="2D6A4F"/>
                </a:solidFill>
                <a:latin typeface="+mn-lt"/>
                <a:ea typeface="+mn-ea"/>
                <a:cs typeface="+mn-cs"/>
              </a:rPr>
              <a:t>Gingeroles y shogaoles (fenoles)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13" name="Shape 313"/>
          <p:cNvSpPr txBox="false"/>
          <p:nvPr isPhoto="false"/>
        </p:nvSpPr>
        <p:spPr>
          <a:xfrm flipH="false" flipV="false" rot="0">
            <a:off x="4480560" y="2423160"/>
            <a:ext cx="2377440" cy="59436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00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Náuseas de embarazo, quimioterapia, movimiento y postoperatorio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14" name="Shape 314"/>
          <p:cNvSpPr txBox="false"/>
          <p:nvPr isPhoto="false"/>
        </p:nvSpPr>
        <p:spPr>
          <a:xfrm flipH="false" flipV="false" rot="0">
            <a:off x="6903719" y="2468880"/>
            <a:ext cx="1691640" cy="50292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A67C52"/>
                </a:solidFill>
                <a:latin typeface="+mn-lt"/>
                <a:ea typeface="+mn-ea"/>
                <a:cs typeface="+mn-cs"/>
              </a:rPr>
              <a:t>Infusión, cáps., fresco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15" name="Shape 315"/>
          <p:cNvSpPr txBox="false"/>
          <p:nvPr isPhoto="false"/>
        </p:nvSpPr>
        <p:spPr>
          <a:xfrm flipH="false" flipV="false" rot="0">
            <a:off x="457200" y="3154680"/>
            <a:ext cx="8229600" cy="777240"/>
          </a:xfrm>
          <a:prstGeom prst="rect">
            <a:avLst/>
          </a:prstGeom>
          <a:solidFill>
            <a:srgbClr val="F0E6D6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16" name="Shape 316"/>
          <p:cNvSpPr txBox="false"/>
          <p:nvPr isPhoto="false"/>
        </p:nvSpPr>
        <p:spPr>
          <a:xfrm flipH="false" flipV="false" rot="0">
            <a:off x="594360" y="3227832"/>
            <a:ext cx="2011679" cy="27432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200">
                <a:solidFill>
                  <a:srgbClr val="1B4332"/>
                </a:solidFill>
                <a:latin typeface="+mn-lt"/>
                <a:ea typeface="+mn-ea"/>
                <a:cs typeface="+mn-cs"/>
              </a:rPr>
              <a:t>Manzanilla</a:t>
            </a:r>
            <a:endParaRPr sz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17" name="Shape 317"/>
          <p:cNvSpPr txBox="false"/>
          <p:nvPr isPhoto="false"/>
        </p:nvSpPr>
        <p:spPr>
          <a:xfrm flipH="false" flipV="false" rot="0">
            <a:off x="594360" y="3538728"/>
            <a:ext cx="2011679" cy="201167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i="true" sz="90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Matricaria chamomilla</a:t>
            </a:r>
            <a:endParaRPr sz="9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18" name="Shape 318"/>
          <p:cNvSpPr txBox="false"/>
          <p:nvPr isPhoto="false"/>
        </p:nvSpPr>
        <p:spPr>
          <a:xfrm flipH="false" flipV="false" rot="0">
            <a:off x="2651760" y="3291840"/>
            <a:ext cx="1783080" cy="50292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950">
                <a:solidFill>
                  <a:srgbClr val="2D6A4F"/>
                </a:solidFill>
                <a:latin typeface="+mn-lt"/>
                <a:ea typeface="+mn-ea"/>
                <a:cs typeface="+mn-cs"/>
              </a:rPr>
              <a:t>Apigenina (flavonoide)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19" name="Shape 319"/>
          <p:cNvSpPr txBox="false"/>
          <p:nvPr isPhoto="false"/>
        </p:nvSpPr>
        <p:spPr>
          <a:xfrm flipH="false" flipV="false" rot="0">
            <a:off x="4480560" y="3246120"/>
            <a:ext cx="2377440" cy="59435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00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Náuseas asociadas a espasmos, gastritis o ansiedad digestiva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20" name="Shape 320"/>
          <p:cNvSpPr txBox="false"/>
          <p:nvPr isPhoto="false"/>
        </p:nvSpPr>
        <p:spPr>
          <a:xfrm flipH="false" flipV="false" rot="0">
            <a:off x="6903719" y="3291840"/>
            <a:ext cx="1691640" cy="50292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A67C52"/>
                </a:solidFill>
                <a:latin typeface="+mn-lt"/>
                <a:ea typeface="+mn-ea"/>
                <a:cs typeface="+mn-cs"/>
              </a:rPr>
              <a:t>Infusión de flores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21" name="Shape 321"/>
          <p:cNvSpPr txBox="false"/>
          <p:nvPr isPhoto="false"/>
        </p:nvSpPr>
        <p:spPr>
          <a:xfrm flipH="false" flipV="false" rot="0">
            <a:off x="457200" y="4645152"/>
            <a:ext cx="8229600" cy="384047"/>
          </a:xfrm>
          <a:prstGeom prst="rect">
            <a:avLst/>
          </a:prstGeom>
          <a:solidFill>
            <a:srgbClr val="FEF3E2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22" name="Shape 322"/>
          <p:cNvSpPr txBox="false"/>
          <p:nvPr isPhoto="false"/>
        </p:nvSpPr>
        <p:spPr>
          <a:xfrm flipH="false" flipV="false" rot="0">
            <a:off x="457200" y="4645152"/>
            <a:ext cx="64008" cy="384047"/>
          </a:xfrm>
          <a:prstGeom prst="rect">
            <a:avLst/>
          </a:prstGeom>
          <a:solidFill>
            <a:srgbClr val="F4A261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23" name="Shape 323"/>
          <p:cNvSpPr txBox="false"/>
          <p:nvPr isPhoto="false"/>
        </p:nvSpPr>
        <p:spPr>
          <a:xfrm flipH="false" flipV="false" rot="0">
            <a:off x="594360" y="4645152"/>
            <a:ext cx="7955280" cy="384047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00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⚠️  El jengibre a dosis altas puede potenciar anticoagulantes. En náuseas del embarazo, consultar al profesional antes de usar.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12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324" name="GroupShape 32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325" name="Shape 325"/>
          <p:cNvSpPr txBox="false"/>
          <p:nvPr isPhoto="false"/>
        </p:nvSpPr>
        <p:spPr>
          <a:xfrm flipH="false" flipV="false" rot="0">
            <a:off x="0" y="0"/>
            <a:ext cx="9144000" cy="1051560"/>
          </a:xfrm>
          <a:prstGeom prst="rect">
            <a:avLst/>
          </a:prstGeom>
          <a:solidFill>
            <a:srgbClr val="7C6FA0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26" name="Shape 326"/>
          <p:cNvSpPr txBox="false"/>
          <p:nvPr isPhoto="false"/>
        </p:nvSpPr>
        <p:spPr>
          <a:xfrm flipH="false" flipV="false" rot="0">
            <a:off x="457200" y="91440"/>
            <a:ext cx="7772400" cy="50291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240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Probióticos y microbiota</a:t>
            </a:r>
            <a:endParaRPr sz="24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27" name="Shape 327"/>
          <p:cNvSpPr txBox="false"/>
          <p:nvPr isPhoto="false"/>
        </p:nvSpPr>
        <p:spPr>
          <a:xfrm flipH="false" flipV="false" rot="0">
            <a:off x="457200" y="594360"/>
            <a:ext cx="8229600" cy="347472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i="true" sz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Incorporar fermentados a la alimentación cotidiana como aliados del sistema digestivo</a:t>
            </a:r>
            <a:endParaRPr sz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28" name="Shape 328"/>
          <p:cNvSpPr txBox="false"/>
          <p:nvPr isPhoto="false"/>
        </p:nvSpPr>
        <p:spPr>
          <a:xfrm flipH="false" flipV="false" rot="0">
            <a:off x="457200" y="1188720"/>
            <a:ext cx="3931920" cy="1371600"/>
          </a:xfrm>
          <a:prstGeom prst="rect">
            <a:avLst/>
          </a:prstGeom>
          <a:solidFill>
            <a:srgbClr val="7C6FA0">
              <a:alpha val="12000"/>
            </a:srgbClr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29" name="Shape 329"/>
          <p:cNvSpPr txBox="false"/>
          <p:nvPr isPhoto="false"/>
        </p:nvSpPr>
        <p:spPr>
          <a:xfrm flipH="false" flipV="false" rot="0">
            <a:off x="457200" y="1188720"/>
            <a:ext cx="64008" cy="1371600"/>
          </a:xfrm>
          <a:prstGeom prst="rect">
            <a:avLst/>
          </a:prstGeom>
          <a:solidFill>
            <a:srgbClr val="7C6FA0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30" name="Shape 330"/>
          <p:cNvSpPr txBox="false"/>
          <p:nvPr isPhoto="false"/>
        </p:nvSpPr>
        <p:spPr>
          <a:xfrm flipH="false" flipV="false" rot="0">
            <a:off x="640080" y="1234440"/>
            <a:ext cx="3566159" cy="292608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200">
                <a:solidFill>
                  <a:srgbClr val="7C6FA0"/>
                </a:solidFill>
                <a:latin typeface="+mn-lt"/>
                <a:ea typeface="+mn-ea"/>
                <a:cs typeface="+mn-cs"/>
              </a:rPr>
              <a:t>¿Qué es un probiótico?</a:t>
            </a:r>
            <a:endParaRPr sz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31" name="Shape 331"/>
          <p:cNvSpPr txBox="false"/>
          <p:nvPr isPhoto="false"/>
        </p:nvSpPr>
        <p:spPr>
          <a:xfrm flipH="false" flipV="false" rot="0">
            <a:off x="640080" y="1536192"/>
            <a:ext cx="3566159" cy="86868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05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Microorganismos vivos que, al consumirse en cantidades adecuadas, benefician la salud de la microbiota intestinal. Se obtienen a través de alimentos fermentados.</a:t>
            </a:r>
            <a:endParaRPr sz="10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32" name="Shape 332"/>
          <p:cNvSpPr txBox="false"/>
          <p:nvPr isPhoto="false"/>
        </p:nvSpPr>
        <p:spPr>
          <a:xfrm flipH="false" flipV="false" rot="0">
            <a:off x="4754880" y="1188720"/>
            <a:ext cx="3931920" cy="1371600"/>
          </a:xfrm>
          <a:prstGeom prst="rect">
            <a:avLst/>
          </a:prstGeom>
          <a:solidFill>
            <a:srgbClr val="7C6FA0">
              <a:alpha val="12000"/>
            </a:srgbClr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33" name="Shape 333"/>
          <p:cNvSpPr txBox="false"/>
          <p:nvPr isPhoto="false"/>
        </p:nvSpPr>
        <p:spPr>
          <a:xfrm flipH="false" flipV="false" rot="0">
            <a:off x="4754880" y="1188720"/>
            <a:ext cx="64008" cy="1371600"/>
          </a:xfrm>
          <a:prstGeom prst="rect">
            <a:avLst/>
          </a:prstGeom>
          <a:solidFill>
            <a:srgbClr val="7C6FA0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34" name="Shape 334"/>
          <p:cNvSpPr txBox="false"/>
          <p:nvPr isPhoto="false"/>
        </p:nvSpPr>
        <p:spPr>
          <a:xfrm flipH="false" flipV="false" rot="0">
            <a:off x="4937760" y="1234440"/>
            <a:ext cx="3566159" cy="292608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200">
                <a:solidFill>
                  <a:srgbClr val="7C6FA0"/>
                </a:solidFill>
                <a:latin typeface="+mn-lt"/>
                <a:ea typeface="+mn-ea"/>
                <a:cs typeface="+mn-cs"/>
              </a:rPr>
              <a:t>¿Por qué importa la microbiota?</a:t>
            </a:r>
            <a:endParaRPr sz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35" name="Shape 335"/>
          <p:cNvSpPr txBox="false"/>
          <p:nvPr isPhoto="false"/>
        </p:nvSpPr>
        <p:spPr>
          <a:xfrm flipH="false" flipV="false" rot="0">
            <a:off x="4937760" y="1536192"/>
            <a:ext cx="3566159" cy="86868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05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La microbiota intestinal regula la digestión, el sistema inmune y la inflamación. Una microbiota saludable contribuye al bienestar digestivo general.</a:t>
            </a:r>
            <a:endParaRPr sz="10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36" name="Shape 336"/>
          <p:cNvSpPr txBox="false"/>
          <p:nvPr isPhoto="false"/>
        </p:nvSpPr>
        <p:spPr>
          <a:xfrm flipH="false" flipV="false" rot="0">
            <a:off x="457200" y="2743200"/>
            <a:ext cx="8229600" cy="347472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400">
                <a:solidFill>
                  <a:srgbClr val="7C6FA0"/>
                </a:solidFill>
                <a:latin typeface="+mn-lt"/>
                <a:ea typeface="+mn-ea"/>
                <a:cs typeface="+mn-cs"/>
              </a:rPr>
              <a:t>🍶  Vinagre fermentado de lavanda</a:t>
            </a:r>
            <a:endParaRPr sz="14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37" name="Shape 337"/>
          <p:cNvSpPr txBox="false"/>
          <p:nvPr isPhoto="false"/>
        </p:nvSpPr>
        <p:spPr>
          <a:xfrm flipH="false" flipV="false" rot="0">
            <a:off x="457200" y="3127248"/>
            <a:ext cx="2743200" cy="1371599"/>
          </a:xfrm>
          <a:prstGeom prst="rect">
            <a:avLst/>
          </a:prstGeom>
          <a:solidFill>
            <a:srgbClr val="EDE8F5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38" name="Shape 338"/>
          <p:cNvSpPr txBox="false"/>
          <p:nvPr isPhoto="false"/>
        </p:nvSpPr>
        <p:spPr>
          <a:xfrm flipH="false" flipV="false" rot="0">
            <a:off x="457200" y="3127248"/>
            <a:ext cx="64008" cy="1371599"/>
          </a:xfrm>
          <a:prstGeom prst="rect">
            <a:avLst/>
          </a:prstGeom>
          <a:solidFill>
            <a:srgbClr val="7C6FA0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39" name="Shape 339"/>
          <p:cNvSpPr txBox="false"/>
          <p:nvPr isPhoto="false"/>
        </p:nvSpPr>
        <p:spPr>
          <a:xfrm flipH="false" flipV="false" rot="0">
            <a:off x="640080" y="3172968"/>
            <a:ext cx="2377440" cy="27432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200">
                <a:solidFill>
                  <a:srgbClr val="1B4332"/>
                </a:solidFill>
                <a:latin typeface="+mn-lt"/>
                <a:ea typeface="+mn-ea"/>
                <a:cs typeface="+mn-cs"/>
              </a:rPr>
              <a:t>Lavanda</a:t>
            </a:r>
            <a:endParaRPr sz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40" name="Shape 340"/>
          <p:cNvSpPr txBox="false"/>
          <p:nvPr isPhoto="false"/>
        </p:nvSpPr>
        <p:spPr>
          <a:xfrm flipH="false" flipV="false" rot="0">
            <a:off x="640080" y="3456432"/>
            <a:ext cx="2377440" cy="201167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i="true" sz="90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Lavandula angustifolia</a:t>
            </a:r>
            <a:endParaRPr sz="9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41" name="Shape 341"/>
          <p:cNvSpPr txBox="false"/>
          <p:nvPr isPhoto="false"/>
        </p:nvSpPr>
        <p:spPr>
          <a:xfrm flipH="false" flipV="false" rot="0">
            <a:off x="640080" y="3675888"/>
            <a:ext cx="2468880" cy="347471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950">
                <a:solidFill>
                  <a:srgbClr val="7C6FA0"/>
                </a:solidFill>
                <a:latin typeface="+mn-lt"/>
                <a:ea typeface="+mn-ea"/>
                <a:cs typeface="+mn-cs"/>
              </a:rPr>
              <a:t>Comp. activo: linalol y acetato de linalilo (aceite esencial)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42" name="Shape 342"/>
          <p:cNvSpPr txBox="false"/>
          <p:nvPr isPhoto="false"/>
        </p:nvSpPr>
        <p:spPr>
          <a:xfrm flipH="false" flipV="false" rot="0">
            <a:off x="640080" y="4041648"/>
            <a:ext cx="2468880" cy="347471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95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Acción: antiespasmódica suave, calmante del sistema nervioso entérico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43" name="Shape 343"/>
          <p:cNvSpPr txBox="false"/>
          <p:nvPr isPhoto="false"/>
        </p:nvSpPr>
        <p:spPr>
          <a:xfrm flipH="false" flipV="false" rot="0">
            <a:off x="3474720" y="3127248"/>
            <a:ext cx="1737360" cy="1371599"/>
          </a:xfrm>
          <a:prstGeom prst="rect">
            <a:avLst/>
          </a:prstGeom>
          <a:solidFill>
            <a:srgbClr val="EDE8F5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44" name="Shape 344"/>
          <p:cNvSpPr txBox="false"/>
          <p:nvPr isPhoto="false"/>
        </p:nvSpPr>
        <p:spPr>
          <a:xfrm flipH="false" flipV="false" rot="0">
            <a:off x="3474720" y="3127248"/>
            <a:ext cx="1737360" cy="320039"/>
          </a:xfrm>
          <a:prstGeom prst="rect">
            <a:avLst/>
          </a:prstGeom>
          <a:solidFill>
            <a:srgbClr val="7C6FA0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45" name="Shape 345"/>
          <p:cNvSpPr txBox="false"/>
          <p:nvPr isPhoto="false"/>
        </p:nvSpPr>
        <p:spPr>
          <a:xfrm flipH="false" flipV="false" rot="0">
            <a:off x="3474720" y="3127248"/>
            <a:ext cx="347472" cy="320039"/>
          </a:xfrm>
          <a:prstGeom prst="rect">
            <a:avLst/>
          </a:prstGeom>
          <a:noFill/>
          <a:ln>
            <a:prstDash val="solid"/>
          </a:ln>
        </p:spPr>
        <p:txBody>
          <a:bodyPr anchor="ctr" bIns="0" lIns="0" rIns="0" tIns="0" wrap="square"/>
          <a:p>
            <a:pPr algn="ctr" indent="0" marL="0"/>
            <a:r>
              <a:rPr b="true" sz="14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r>
            <a:endParaRPr sz="14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46" name="Shape 346"/>
          <p:cNvSpPr txBox="false"/>
          <p:nvPr isPhoto="false"/>
        </p:nvSpPr>
        <p:spPr>
          <a:xfrm flipH="false" flipV="false" rot="0">
            <a:off x="3840480" y="3127248"/>
            <a:ext cx="1325879" cy="32003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Días 1–7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47" name="Shape 347"/>
          <p:cNvSpPr txBox="false"/>
          <p:nvPr isPhoto="false"/>
        </p:nvSpPr>
        <p:spPr>
          <a:xfrm flipH="false" flipV="false" rot="0">
            <a:off x="3566159" y="3493008"/>
            <a:ext cx="1572768" cy="91440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95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Mezcla en frasco de boca ancha. Revolver 1 vez por día. Las flores de lavanda inician la extracción en frío.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48" name="Shape 348"/>
          <p:cNvSpPr txBox="false"/>
          <p:nvPr isPhoto="false"/>
        </p:nvSpPr>
        <p:spPr>
          <a:xfrm flipH="false" flipV="false" rot="0">
            <a:off x="5376672" y="3127248"/>
            <a:ext cx="1737359" cy="1371599"/>
          </a:xfrm>
          <a:prstGeom prst="rect">
            <a:avLst/>
          </a:prstGeom>
          <a:solidFill>
            <a:srgbClr val="EDE8F5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49" name="Shape 349"/>
          <p:cNvSpPr txBox="false"/>
          <p:nvPr isPhoto="false"/>
        </p:nvSpPr>
        <p:spPr>
          <a:xfrm flipH="false" flipV="false" rot="0">
            <a:off x="5376672" y="3127248"/>
            <a:ext cx="1737359" cy="320039"/>
          </a:xfrm>
          <a:prstGeom prst="rect">
            <a:avLst/>
          </a:prstGeom>
          <a:solidFill>
            <a:srgbClr val="7C6FA0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50" name="Shape 350"/>
          <p:cNvSpPr txBox="false"/>
          <p:nvPr isPhoto="false"/>
        </p:nvSpPr>
        <p:spPr>
          <a:xfrm flipH="false" flipV="false" rot="0">
            <a:off x="5376672" y="3127248"/>
            <a:ext cx="347471" cy="320039"/>
          </a:xfrm>
          <a:prstGeom prst="rect">
            <a:avLst/>
          </a:prstGeom>
          <a:noFill/>
          <a:ln>
            <a:prstDash val="solid"/>
          </a:ln>
        </p:spPr>
        <p:txBody>
          <a:bodyPr anchor="ctr" bIns="0" lIns="0" rIns="0" tIns="0" wrap="square"/>
          <a:p>
            <a:pPr algn="ctr" indent="0" marL="0"/>
            <a:r>
              <a:rPr b="true" sz="14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</a:t>
            </a:r>
            <a:endParaRPr sz="14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51" name="Shape 351"/>
          <p:cNvSpPr txBox="false"/>
          <p:nvPr isPhoto="false"/>
        </p:nvSpPr>
        <p:spPr>
          <a:xfrm flipH="false" flipV="false" rot="0">
            <a:off x="5742432" y="3127248"/>
            <a:ext cx="1325879" cy="32003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Semanas 2–4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52" name="Shape 352"/>
          <p:cNvSpPr txBox="false"/>
          <p:nvPr isPhoto="false"/>
        </p:nvSpPr>
        <p:spPr>
          <a:xfrm flipH="false" flipV="false" rot="0">
            <a:off x="5468112" y="3493008"/>
            <a:ext cx="1572768" cy="91440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95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Colar y pasar a frasco de boca angosta. Fermentación espontánea sin revolver. La lavanda ya aportó sus principios activos.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53" name="Shape 353"/>
          <p:cNvSpPr txBox="false"/>
          <p:nvPr isPhoto="false"/>
        </p:nvSpPr>
        <p:spPr>
          <a:xfrm flipH="false" flipV="false" rot="0">
            <a:off x="7278624" y="3127248"/>
            <a:ext cx="1737359" cy="1371599"/>
          </a:xfrm>
          <a:prstGeom prst="rect">
            <a:avLst/>
          </a:prstGeom>
          <a:solidFill>
            <a:srgbClr val="EDE8F5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54" name="Shape 354"/>
          <p:cNvSpPr txBox="false"/>
          <p:nvPr isPhoto="false"/>
        </p:nvSpPr>
        <p:spPr>
          <a:xfrm flipH="false" flipV="false" rot="0">
            <a:off x="7278624" y="3127248"/>
            <a:ext cx="1737359" cy="320039"/>
          </a:xfrm>
          <a:prstGeom prst="rect">
            <a:avLst/>
          </a:prstGeom>
          <a:solidFill>
            <a:srgbClr val="7C6FA0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55" name="Shape 355"/>
          <p:cNvSpPr txBox="false"/>
          <p:nvPr isPhoto="false"/>
        </p:nvSpPr>
        <p:spPr>
          <a:xfrm flipH="false" flipV="false" rot="0">
            <a:off x="7278624" y="3127248"/>
            <a:ext cx="347471" cy="320039"/>
          </a:xfrm>
          <a:prstGeom prst="rect">
            <a:avLst/>
          </a:prstGeom>
          <a:noFill/>
          <a:ln>
            <a:prstDash val="solid"/>
          </a:ln>
        </p:spPr>
        <p:txBody>
          <a:bodyPr anchor="ctr" bIns="0" lIns="0" rIns="0" tIns="0" wrap="square"/>
          <a:p>
            <a:pPr algn="ctr" indent="0" marL="0"/>
            <a:r>
              <a:rPr b="true" sz="14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3</a:t>
            </a:r>
            <a:endParaRPr sz="14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56" name="Shape 356"/>
          <p:cNvSpPr txBox="false"/>
          <p:nvPr isPhoto="false"/>
        </p:nvSpPr>
        <p:spPr>
          <a:xfrm flipH="false" flipV="false" rot="0">
            <a:off x="7644384" y="3127248"/>
            <a:ext cx="1325880" cy="32003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0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Listo para usar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57" name="Shape 357"/>
          <p:cNvSpPr txBox="false"/>
          <p:nvPr isPhoto="false"/>
        </p:nvSpPr>
        <p:spPr>
          <a:xfrm flipH="false" flipV="false" rot="0">
            <a:off x="7370064" y="3493008"/>
            <a:ext cx="1572768" cy="91440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95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Tapar y conservar en heladera. Usar como aderezo o una cucharadita en agua. También con diente de león, rosa o caléndula.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58" name="Shape 358"/>
          <p:cNvSpPr txBox="false"/>
          <p:nvPr isPhoto="false"/>
        </p:nvSpPr>
        <p:spPr>
          <a:xfrm flipH="false" flipV="false" rot="0">
            <a:off x="457200" y="4645152"/>
            <a:ext cx="8229600" cy="384047"/>
          </a:xfrm>
          <a:prstGeom prst="rect">
            <a:avLst/>
          </a:prstGeom>
          <a:solidFill>
            <a:srgbClr val="EDE8F5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59" name="Shape 359"/>
          <p:cNvSpPr txBox="false"/>
          <p:nvPr isPhoto="false"/>
        </p:nvSpPr>
        <p:spPr>
          <a:xfrm flipH="false" flipV="false" rot="0">
            <a:off x="457200" y="4645152"/>
            <a:ext cx="64008" cy="384047"/>
          </a:xfrm>
          <a:prstGeom prst="rect">
            <a:avLst/>
          </a:prstGeom>
          <a:solidFill>
            <a:srgbClr val="7C6FA0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60" name="Shape 360"/>
          <p:cNvSpPr txBox="false"/>
          <p:nvPr isPhoto="false"/>
        </p:nvSpPr>
        <p:spPr>
          <a:xfrm flipH="false" flipV="false" rot="0">
            <a:off x="594360" y="4645152"/>
            <a:ext cx="7955280" cy="384047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00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💡  La receta completa y otras variantes con flores comestibles las encontrás en la guía descargable que recibís por mail.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13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bg>
      <p:bgPr>
        <a:solidFill>
          <a:srgbClr val="F9F6F0"/>
        </a:solidFill>
      </p:bgPr>
    </p:bg>
    <p:spTree>
      <p:nvGrpSpPr>
        <p:cNvPr hidden="false" id="361" name="GroupShape 36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362" name="Shape 362"/>
          <p:cNvSpPr txBox="false"/>
          <p:nvPr isPhoto="false"/>
        </p:nvSpPr>
        <p:spPr>
          <a:xfrm flipH="false" flipV="false" rot="0">
            <a:off x="548640" y="274320"/>
            <a:ext cx="8046719" cy="50291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3000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¿Cómo se preparan?</a:t>
            </a:r>
            <a:endParaRPr sz="3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63" name="Shape 363"/>
          <p:cNvSpPr txBox="false"/>
          <p:nvPr isPhoto="false"/>
        </p:nvSpPr>
        <p:spPr>
          <a:xfrm flipH="false" flipV="false" rot="0">
            <a:off x="457200" y="1005839"/>
            <a:ext cx="2651760" cy="1737360"/>
          </a:xfrm>
          <a:prstGeom prst="rect">
            <a:avLst/>
          </a:prstGeom>
          <a:solidFill>
            <a:srgbClr val="FFFFFF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64" name="Shape 364"/>
          <p:cNvSpPr txBox="false"/>
          <p:nvPr isPhoto="false"/>
        </p:nvSpPr>
        <p:spPr>
          <a:xfrm flipH="false" flipV="false" rot="0">
            <a:off x="457200" y="1170432"/>
            <a:ext cx="2651760" cy="45720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ctr" indent="0" marL="0"/>
            <a:r>
              <a:rPr sz="260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🫖</a:t>
            </a:r>
            <a:endParaRPr sz="2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65" name="Shape 365"/>
          <p:cNvSpPr txBox="false"/>
          <p:nvPr isPhoto="false"/>
        </p:nvSpPr>
        <p:spPr>
          <a:xfrm flipH="false" flipV="false" rot="0">
            <a:off x="548640" y="1627632"/>
            <a:ext cx="2468880" cy="292608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ctr" indent="0" marL="0"/>
            <a:r>
              <a:rPr b="true" sz="1300">
                <a:solidFill>
                  <a:srgbClr val="1B4332"/>
                </a:solidFill>
                <a:latin typeface="+mn-lt"/>
                <a:ea typeface="+mn-ea"/>
                <a:cs typeface="+mn-cs"/>
              </a:rPr>
              <a:t>Infusión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66" name="Shape 366"/>
          <p:cNvSpPr txBox="false"/>
          <p:nvPr isPhoto="false"/>
        </p:nvSpPr>
        <p:spPr>
          <a:xfrm flipH="false" flipV="false" rot="0">
            <a:off x="566928" y="1920240"/>
            <a:ext cx="2450592" cy="68580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ctr" indent="0" marL="0"/>
            <a:r>
              <a:rPr sz="95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Calentar</a:t>
            </a:r>
            <a:r>
              <a:rPr sz="95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 </a:t>
            </a:r>
            <a:r>
              <a:rPr sz="95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agua</a:t>
            </a:r>
            <a:r>
              <a:rPr sz="95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 a 80-90º, </a:t>
            </a:r>
            <a:r>
              <a:rPr sz="95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agregar</a:t>
            </a:r>
            <a:r>
              <a:rPr sz="95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 la planta y </a:t>
            </a:r>
            <a:r>
              <a:rPr sz="95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tapar</a:t>
            </a:r>
            <a:r>
              <a:rPr sz="95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. </a:t>
            </a:r>
            <a:r>
              <a:rPr sz="95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Dejar</a:t>
            </a:r>
            <a:r>
              <a:rPr sz="95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 5–10 minutos. Ideal para hojas y flores.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67" name="Shape 367"/>
          <p:cNvSpPr txBox="false"/>
          <p:nvPr isPhoto="false"/>
        </p:nvSpPr>
        <p:spPr>
          <a:xfrm flipH="false" flipV="false" rot="0">
            <a:off x="3291840" y="1005839"/>
            <a:ext cx="2651759" cy="1737360"/>
          </a:xfrm>
          <a:prstGeom prst="rect">
            <a:avLst/>
          </a:prstGeom>
          <a:solidFill>
            <a:srgbClr val="FFFFFF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68" name="Shape 368"/>
          <p:cNvSpPr txBox="false"/>
          <p:nvPr isPhoto="false"/>
        </p:nvSpPr>
        <p:spPr>
          <a:xfrm flipH="false" flipV="false" rot="0">
            <a:off x="3291840" y="1170432"/>
            <a:ext cx="2651759" cy="45720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ctr" indent="0" marL="0"/>
            <a:r>
              <a:rPr sz="260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🍲</a:t>
            </a:r>
            <a:endParaRPr sz="2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69" name="Shape 369"/>
          <p:cNvSpPr txBox="false"/>
          <p:nvPr isPhoto="false"/>
        </p:nvSpPr>
        <p:spPr>
          <a:xfrm flipH="false" flipV="false" rot="0">
            <a:off x="3383280" y="1627632"/>
            <a:ext cx="2468880" cy="292608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ctr" indent="0" marL="0"/>
            <a:r>
              <a:rPr b="true" sz="1300">
                <a:solidFill>
                  <a:srgbClr val="1B4332"/>
                </a:solidFill>
                <a:latin typeface="+mn-lt"/>
                <a:ea typeface="+mn-ea"/>
                <a:cs typeface="+mn-cs"/>
              </a:rPr>
              <a:t>Decocción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70" name="Shape 370"/>
          <p:cNvSpPr txBox="false"/>
          <p:nvPr isPhoto="false"/>
        </p:nvSpPr>
        <p:spPr>
          <a:xfrm flipH="false" flipV="false" rot="0">
            <a:off x="3401568" y="1920240"/>
            <a:ext cx="2450592" cy="68580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ctr" indent="0" marL="0"/>
            <a:r>
              <a:rPr sz="95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Poner la planta en </a:t>
            </a:r>
            <a:r>
              <a:rPr sz="95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agua</a:t>
            </a:r>
            <a:r>
              <a:rPr sz="95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 y hervir 10–20 minutos. Para raíces, cortezas y semillas duras.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71" name="Shape 371"/>
          <p:cNvSpPr txBox="false"/>
          <p:nvPr isPhoto="false"/>
        </p:nvSpPr>
        <p:spPr>
          <a:xfrm flipH="false" flipV="false" rot="0">
            <a:off x="6126480" y="1005839"/>
            <a:ext cx="2651760" cy="1737360"/>
          </a:xfrm>
          <a:prstGeom prst="rect">
            <a:avLst/>
          </a:prstGeom>
          <a:solidFill>
            <a:srgbClr val="FFFFFF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72" name="Shape 372"/>
          <p:cNvSpPr txBox="false"/>
          <p:nvPr isPhoto="false"/>
        </p:nvSpPr>
        <p:spPr>
          <a:xfrm flipH="false" flipV="false" rot="0">
            <a:off x="6126480" y="1170432"/>
            <a:ext cx="2651760" cy="45720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ctr" indent="0" marL="0"/>
            <a:r>
              <a:rPr sz="260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🧪</a:t>
            </a:r>
            <a:endParaRPr sz="2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73" name="Shape 373"/>
          <p:cNvSpPr txBox="false"/>
          <p:nvPr isPhoto="false"/>
        </p:nvSpPr>
        <p:spPr>
          <a:xfrm flipH="false" flipV="false" rot="0">
            <a:off x="6217920" y="1627632"/>
            <a:ext cx="2468880" cy="292608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ctr" indent="0" marL="0"/>
            <a:r>
              <a:rPr b="true" sz="1300">
                <a:solidFill>
                  <a:srgbClr val="1B4332"/>
                </a:solidFill>
                <a:latin typeface="+mn-lt"/>
                <a:ea typeface="+mn-ea"/>
                <a:cs typeface="+mn-cs"/>
              </a:rPr>
              <a:t>Tintura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74" name="Shape 374"/>
          <p:cNvSpPr txBox="false"/>
          <p:nvPr isPhoto="false"/>
        </p:nvSpPr>
        <p:spPr>
          <a:xfrm flipH="false" flipV="false" rot="0">
            <a:off x="6236208" y="1920240"/>
            <a:ext cx="2450592" cy="68580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ctr" indent="0" marL="0"/>
            <a:r>
              <a:rPr sz="95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Planta en alcohol (40–70%) durante 15–30 días. Concentrada, dosis en gotas. Larga conservación.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75" name="Shape 375"/>
          <p:cNvSpPr txBox="false"/>
          <p:nvPr isPhoto="false"/>
        </p:nvSpPr>
        <p:spPr>
          <a:xfrm flipH="false" flipV="false" rot="0">
            <a:off x="457200" y="2971800"/>
            <a:ext cx="2651760" cy="1737359"/>
          </a:xfrm>
          <a:prstGeom prst="rect">
            <a:avLst/>
          </a:prstGeom>
          <a:solidFill>
            <a:srgbClr val="FFFFFF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76" name="Shape 376"/>
          <p:cNvSpPr txBox="false"/>
          <p:nvPr isPhoto="false"/>
        </p:nvSpPr>
        <p:spPr>
          <a:xfrm flipH="false" flipV="false" rot="0">
            <a:off x="457200" y="3136392"/>
            <a:ext cx="2651760" cy="45720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ctr" indent="0" marL="0"/>
            <a:r>
              <a:rPr sz="260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💊</a:t>
            </a:r>
            <a:endParaRPr sz="2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77" name="Shape 377"/>
          <p:cNvSpPr txBox="false"/>
          <p:nvPr isPhoto="false"/>
        </p:nvSpPr>
        <p:spPr>
          <a:xfrm flipH="false" flipV="false" rot="0">
            <a:off x="548640" y="3593592"/>
            <a:ext cx="2468880" cy="292608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ctr" indent="0" marL="0"/>
            <a:r>
              <a:rPr b="true" sz="1300">
                <a:solidFill>
                  <a:srgbClr val="1B4332"/>
                </a:solidFill>
                <a:latin typeface="+mn-lt"/>
                <a:ea typeface="+mn-ea"/>
                <a:cs typeface="+mn-cs"/>
              </a:rPr>
              <a:t>Extracto seco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78" name="Shape 378"/>
          <p:cNvSpPr txBox="false"/>
          <p:nvPr isPhoto="false"/>
        </p:nvSpPr>
        <p:spPr>
          <a:xfrm flipH="false" flipV="false" rot="0">
            <a:off x="566928" y="3886200"/>
            <a:ext cx="2450592" cy="68580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ctr" indent="0" marL="0"/>
            <a:r>
              <a:rPr sz="95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Forma estandarizada en cápsulas o comprimidos. Garantiza dosis precisas del principio activo.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79" name="Shape 379"/>
          <p:cNvSpPr txBox="false"/>
          <p:nvPr isPhoto="false"/>
        </p:nvSpPr>
        <p:spPr>
          <a:xfrm flipH="false" flipV="false" rot="0">
            <a:off x="3291840" y="2971800"/>
            <a:ext cx="2651759" cy="1737359"/>
          </a:xfrm>
          <a:prstGeom prst="rect">
            <a:avLst/>
          </a:prstGeom>
          <a:solidFill>
            <a:srgbClr val="FFFFFF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80" name="Shape 380"/>
          <p:cNvSpPr txBox="false"/>
          <p:nvPr isPhoto="false"/>
        </p:nvSpPr>
        <p:spPr>
          <a:xfrm flipH="false" flipV="false" rot="0">
            <a:off x="3291840" y="3136392"/>
            <a:ext cx="2651759" cy="45720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ctr" indent="0" marL="0"/>
            <a:r>
              <a:rPr sz="260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💧</a:t>
            </a:r>
            <a:endParaRPr sz="2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81" name="Shape 381"/>
          <p:cNvSpPr txBox="false"/>
          <p:nvPr isPhoto="false"/>
        </p:nvSpPr>
        <p:spPr>
          <a:xfrm flipH="false" flipV="false" rot="0">
            <a:off x="3383280" y="3593592"/>
            <a:ext cx="2468880" cy="292608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ctr" indent="0" marL="0"/>
            <a:r>
              <a:rPr b="true" sz="1300">
                <a:solidFill>
                  <a:srgbClr val="1B4332"/>
                </a:solidFill>
                <a:latin typeface="+mn-lt"/>
                <a:ea typeface="+mn-ea"/>
                <a:cs typeface="+mn-cs"/>
              </a:rPr>
              <a:t>Aceite esencial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82" name="Shape 382"/>
          <p:cNvSpPr txBox="false"/>
          <p:nvPr isPhoto="false"/>
        </p:nvSpPr>
        <p:spPr>
          <a:xfrm flipH="false" flipV="false" rot="0">
            <a:off x="3401568" y="3886200"/>
            <a:ext cx="2450592" cy="68580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ctr" indent="0" marL="0"/>
            <a:r>
              <a:rPr sz="95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Altamente concentrado. Uso interno solo con indicación profesional. Uso externo o aromático más frecuente.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83" name="Shape 383"/>
          <p:cNvSpPr txBox="false"/>
          <p:nvPr isPhoto="false"/>
        </p:nvSpPr>
        <p:spPr>
          <a:xfrm flipH="false" flipV="false" rot="0">
            <a:off x="6126480" y="2971800"/>
            <a:ext cx="2651760" cy="1737359"/>
          </a:xfrm>
          <a:prstGeom prst="rect">
            <a:avLst/>
          </a:prstGeom>
          <a:solidFill>
            <a:srgbClr val="FFFFFF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84" name="Shape 384"/>
          <p:cNvSpPr txBox="false"/>
          <p:nvPr isPhoto="false"/>
        </p:nvSpPr>
        <p:spPr>
          <a:xfrm flipH="false" flipV="false" rot="0">
            <a:off x="6126480" y="3136392"/>
            <a:ext cx="2651760" cy="45720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ctr" indent="0" marL="0"/>
            <a:r>
              <a:rPr sz="260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🌿</a:t>
            </a:r>
            <a:endParaRPr sz="2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85" name="Shape 385"/>
          <p:cNvSpPr txBox="false"/>
          <p:nvPr isPhoto="false"/>
        </p:nvSpPr>
        <p:spPr>
          <a:xfrm flipH="false" flipV="false" rot="0">
            <a:off x="6217920" y="3593592"/>
            <a:ext cx="2468880" cy="292608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ctr" indent="0" marL="0"/>
            <a:r>
              <a:rPr b="true" sz="1300">
                <a:solidFill>
                  <a:srgbClr val="1B4332"/>
                </a:solidFill>
                <a:latin typeface="+mn-lt"/>
                <a:ea typeface="+mn-ea"/>
                <a:cs typeface="+mn-cs"/>
              </a:rPr>
              <a:t>Fresco / Especia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86" name="Shape 386"/>
          <p:cNvSpPr txBox="false"/>
          <p:nvPr isPhoto="false"/>
        </p:nvSpPr>
        <p:spPr>
          <a:xfrm flipH="false" flipV="false" rot="0">
            <a:off x="6236208" y="3886200"/>
            <a:ext cx="2450592" cy="68580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ctr" indent="0" marL="0"/>
            <a:r>
              <a:rPr sz="950">
                <a:solidFill>
                  <a:srgbClr val="6B7280"/>
                </a:solidFill>
                <a:latin typeface="+mn-lt"/>
                <a:ea typeface="+mn-ea"/>
                <a:cs typeface="+mn-cs"/>
              </a:rPr>
              <a:t>Jengibre, cúrcuma, ajo — se usan directamente en la alimentación cotidiana. Fácil y accesible.</a:t>
            </a:r>
            <a:endParaRPr sz="95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14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bg>
      <p:bgPr>
        <a:solidFill>
          <a:srgbClr val="F9F6F0"/>
        </a:solidFill>
      </p:bgPr>
    </p:bg>
    <p:spTree>
      <p:nvGrpSpPr>
        <p:cNvPr hidden="false" id="387" name="GroupShape 38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388" name="Shape 388"/>
          <p:cNvSpPr txBox="false"/>
          <p:nvPr isPhoto="false"/>
        </p:nvSpPr>
        <p:spPr>
          <a:xfrm flipH="false" flipV="false" rot="0">
            <a:off x="548640" y="274320"/>
            <a:ext cx="8046719" cy="50291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3000">
                <a:solidFill>
                  <a:srgbClr val="1B4332"/>
                </a:solidFill>
                <a:latin typeface="Georgia"/>
                <a:ea typeface="Georgia"/>
                <a:cs typeface="Georgia"/>
              </a:rPr>
              <a:t>Precauciones generales</a:t>
            </a:r>
            <a:endParaRPr sz="3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89" name="Shape 389"/>
          <p:cNvSpPr txBox="false"/>
          <p:nvPr isPhoto="false"/>
        </p:nvSpPr>
        <p:spPr>
          <a:xfrm flipH="false" flipV="false" rot="0">
            <a:off x="548640" y="777240"/>
            <a:ext cx="8046719" cy="32004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i="true" sz="1300">
                <a:solidFill>
                  <a:srgbClr val="9B2335"/>
                </a:solidFill>
                <a:latin typeface="+mn-lt"/>
                <a:ea typeface="+mn-ea"/>
                <a:cs typeface="+mn-cs"/>
              </a:rPr>
              <a:t>Natural no siempre significa inofensivo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90" name="Shape 390"/>
          <p:cNvSpPr txBox="false"/>
          <p:nvPr isPhoto="false"/>
        </p:nvSpPr>
        <p:spPr>
          <a:xfrm flipH="false" flipV="false" rot="0">
            <a:off x="457200" y="1234440"/>
            <a:ext cx="3931920" cy="32003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300">
                <a:solidFill>
                  <a:srgbClr val="9B2335"/>
                </a:solidFill>
                <a:latin typeface="+mn-lt"/>
                <a:ea typeface="+mn-ea"/>
                <a:cs typeface="+mn-cs"/>
              </a:rPr>
              <a:t>⚠️  Tener en cuenta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91" name="Shape 391"/>
          <p:cNvSpPr txBox="false"/>
          <p:nvPr isPhoto="false"/>
        </p:nvSpPr>
        <p:spPr>
          <a:xfrm flipH="false" flipV="false" rot="0">
            <a:off x="457200" y="1600200"/>
            <a:ext cx="3931920" cy="475488"/>
          </a:xfrm>
          <a:prstGeom prst="rect">
            <a:avLst/>
          </a:prstGeom>
          <a:solidFill>
            <a:srgbClr val="FFF0F0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92" name="Shape 392"/>
          <p:cNvSpPr txBox="false"/>
          <p:nvPr isPhoto="false"/>
        </p:nvSpPr>
        <p:spPr>
          <a:xfrm flipH="false" flipV="false" rot="0">
            <a:off x="457200" y="1600200"/>
            <a:ext cx="54863" cy="475488"/>
          </a:xfrm>
          <a:prstGeom prst="rect">
            <a:avLst/>
          </a:prstGeom>
          <a:solidFill>
            <a:srgbClr val="9B2335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93" name="Shape 393"/>
          <p:cNvSpPr txBox="false"/>
          <p:nvPr isPhoto="false"/>
        </p:nvSpPr>
        <p:spPr>
          <a:xfrm flipH="false" flipV="false" rot="0">
            <a:off x="621792" y="1636776"/>
            <a:ext cx="3703320" cy="402335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00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Siempre informar al médico o farmacéutico sobre el uso de plantas medicinales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94" name="Shape 394"/>
          <p:cNvSpPr txBox="false"/>
          <p:nvPr isPhoto="false"/>
        </p:nvSpPr>
        <p:spPr>
          <a:xfrm flipH="false" flipV="false" rot="0">
            <a:off x="457200" y="2148840"/>
            <a:ext cx="3931920" cy="475488"/>
          </a:xfrm>
          <a:prstGeom prst="rect">
            <a:avLst/>
          </a:prstGeom>
          <a:solidFill>
            <a:srgbClr val="FFF0F0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95" name="Shape 395"/>
          <p:cNvSpPr txBox="false"/>
          <p:nvPr isPhoto="false"/>
        </p:nvSpPr>
        <p:spPr>
          <a:xfrm flipH="false" flipV="false" rot="0">
            <a:off x="457200" y="2148840"/>
            <a:ext cx="54863" cy="475488"/>
          </a:xfrm>
          <a:prstGeom prst="rect">
            <a:avLst/>
          </a:prstGeom>
          <a:solidFill>
            <a:srgbClr val="9B2335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96" name="Shape 396"/>
          <p:cNvSpPr txBox="false"/>
          <p:nvPr isPhoto="false"/>
        </p:nvSpPr>
        <p:spPr>
          <a:xfrm flipH="false" flipV="false" rot="0">
            <a:off x="621792" y="2185416"/>
            <a:ext cx="3703320" cy="402336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00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Las plantas pueden interactuar con medicamentos (ej: hipérico con anticonceptivos, anticoagulantes, antidepresivos)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97" name="Shape 397"/>
          <p:cNvSpPr txBox="false"/>
          <p:nvPr isPhoto="false"/>
        </p:nvSpPr>
        <p:spPr>
          <a:xfrm flipH="false" flipV="false" rot="0">
            <a:off x="457200" y="2697480"/>
            <a:ext cx="3931920" cy="475488"/>
          </a:xfrm>
          <a:prstGeom prst="rect">
            <a:avLst/>
          </a:prstGeom>
          <a:solidFill>
            <a:srgbClr val="FFF0F0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98" name="Shape 398"/>
          <p:cNvSpPr txBox="false"/>
          <p:nvPr isPhoto="false"/>
        </p:nvSpPr>
        <p:spPr>
          <a:xfrm flipH="false" flipV="false" rot="0">
            <a:off x="457200" y="2697480"/>
            <a:ext cx="54863" cy="475488"/>
          </a:xfrm>
          <a:prstGeom prst="rect">
            <a:avLst/>
          </a:prstGeom>
          <a:solidFill>
            <a:srgbClr val="9B2335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99" name="Shape 399"/>
          <p:cNvSpPr txBox="false"/>
          <p:nvPr isPhoto="false"/>
        </p:nvSpPr>
        <p:spPr>
          <a:xfrm flipH="false" flipV="false" rot="0">
            <a:off x="621792" y="2734056"/>
            <a:ext cx="3703320" cy="402335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00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El embarazo y la lactancia son momentos de especial precaución — muchas plantas están contraindicadas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00" name="Shape 400"/>
          <p:cNvSpPr txBox="false"/>
          <p:nvPr isPhoto="false"/>
        </p:nvSpPr>
        <p:spPr>
          <a:xfrm flipH="false" flipV="false" rot="0">
            <a:off x="457200" y="3246120"/>
            <a:ext cx="3931920" cy="475488"/>
          </a:xfrm>
          <a:prstGeom prst="rect">
            <a:avLst/>
          </a:prstGeom>
          <a:solidFill>
            <a:srgbClr val="FFF0F0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01" name="Shape 401"/>
          <p:cNvSpPr txBox="false"/>
          <p:nvPr isPhoto="false"/>
        </p:nvSpPr>
        <p:spPr>
          <a:xfrm flipH="false" flipV="false" rot="0">
            <a:off x="457200" y="3246120"/>
            <a:ext cx="54863" cy="475488"/>
          </a:xfrm>
          <a:prstGeom prst="rect">
            <a:avLst/>
          </a:prstGeom>
          <a:solidFill>
            <a:srgbClr val="9B2335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02" name="Shape 402"/>
          <p:cNvSpPr txBox="false"/>
          <p:nvPr isPhoto="false"/>
        </p:nvSpPr>
        <p:spPr>
          <a:xfrm flipH="false" flipV="false" rot="0">
            <a:off x="621792" y="3282696"/>
            <a:ext cx="3703320" cy="402335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00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No reemplazar tratamientos farmacológicos indicados por indicación médica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03" name="Shape 403"/>
          <p:cNvSpPr txBox="false"/>
          <p:nvPr isPhoto="false"/>
        </p:nvSpPr>
        <p:spPr>
          <a:xfrm flipH="false" flipV="false" rot="0">
            <a:off x="457200" y="3794759"/>
            <a:ext cx="3931920" cy="475488"/>
          </a:xfrm>
          <a:prstGeom prst="rect">
            <a:avLst/>
          </a:prstGeom>
          <a:solidFill>
            <a:srgbClr val="FFF0F0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04" name="Shape 404"/>
          <p:cNvSpPr txBox="false"/>
          <p:nvPr isPhoto="false"/>
        </p:nvSpPr>
        <p:spPr>
          <a:xfrm flipH="false" flipV="false" rot="0">
            <a:off x="457200" y="3794759"/>
            <a:ext cx="54863" cy="475488"/>
          </a:xfrm>
          <a:prstGeom prst="rect">
            <a:avLst/>
          </a:prstGeom>
          <a:solidFill>
            <a:srgbClr val="9B2335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05" name="Shape 405"/>
          <p:cNvSpPr txBox="false"/>
          <p:nvPr isPhoto="false"/>
        </p:nvSpPr>
        <p:spPr>
          <a:xfrm flipH="false" flipV="false" rot="0">
            <a:off x="621792" y="3831336"/>
            <a:ext cx="3703320" cy="402335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00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Los niños </a:t>
            </a:r>
            <a:r>
              <a:rPr sz="100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menores</a:t>
            </a:r>
            <a:r>
              <a:rPr sz="100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 </a:t>
            </a:r>
            <a:r>
              <a:rPr sz="100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requieren</a:t>
            </a:r>
            <a:r>
              <a:rPr sz="100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 supervisión profesional antes de cualquier uso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06" name="Shape 406"/>
          <p:cNvSpPr txBox="false"/>
          <p:nvPr isPhoto="false"/>
        </p:nvSpPr>
        <p:spPr>
          <a:xfrm flipH="false" flipV="false" rot="0">
            <a:off x="4754880" y="1234440"/>
            <a:ext cx="3931920" cy="320039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b="true" sz="1300">
                <a:solidFill>
                  <a:srgbClr val="2D6A4F"/>
                </a:solidFill>
                <a:latin typeface="+mn-lt"/>
                <a:ea typeface="+mn-ea"/>
                <a:cs typeface="+mn-cs"/>
              </a:rPr>
              <a:t>✅  Buenas prácticas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07" name="Shape 407"/>
          <p:cNvSpPr txBox="false"/>
          <p:nvPr isPhoto="false"/>
        </p:nvSpPr>
        <p:spPr>
          <a:xfrm flipH="false" flipV="false" rot="0">
            <a:off x="4754880" y="1600200"/>
            <a:ext cx="3931920" cy="566928"/>
          </a:xfrm>
          <a:prstGeom prst="rect">
            <a:avLst/>
          </a:prstGeom>
          <a:solidFill>
            <a:srgbClr val="F0FFF4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08" name="Shape 408"/>
          <p:cNvSpPr txBox="false"/>
          <p:nvPr isPhoto="false"/>
        </p:nvSpPr>
        <p:spPr>
          <a:xfrm flipH="false" flipV="false" rot="0">
            <a:off x="4754880" y="1600200"/>
            <a:ext cx="54864" cy="566928"/>
          </a:xfrm>
          <a:prstGeom prst="rect">
            <a:avLst/>
          </a:prstGeom>
          <a:solidFill>
            <a:srgbClr val="2D6A4F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09" name="Shape 409"/>
          <p:cNvSpPr txBox="false"/>
          <p:nvPr isPhoto="false"/>
        </p:nvSpPr>
        <p:spPr>
          <a:xfrm flipH="false" flipV="false" rot="0">
            <a:off x="4919472" y="1664207"/>
            <a:ext cx="3703319" cy="45720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00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La automedicación con plantas puede ser segura para molestias leves y puntuales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10" name="Shape 410"/>
          <p:cNvSpPr txBox="false"/>
          <p:nvPr isPhoto="false"/>
        </p:nvSpPr>
        <p:spPr>
          <a:xfrm flipH="false" flipV="false" rot="0">
            <a:off x="4754880" y="2258568"/>
            <a:ext cx="3931920" cy="566928"/>
          </a:xfrm>
          <a:prstGeom prst="rect">
            <a:avLst/>
          </a:prstGeom>
          <a:solidFill>
            <a:srgbClr val="F0FFF4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11" name="Shape 411"/>
          <p:cNvSpPr txBox="false"/>
          <p:nvPr isPhoto="false"/>
        </p:nvSpPr>
        <p:spPr>
          <a:xfrm flipH="false" flipV="false" rot="0">
            <a:off x="4754880" y="2258568"/>
            <a:ext cx="54864" cy="566928"/>
          </a:xfrm>
          <a:prstGeom prst="rect">
            <a:avLst/>
          </a:prstGeom>
          <a:solidFill>
            <a:srgbClr val="2D6A4F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12" name="Shape 412"/>
          <p:cNvSpPr txBox="false"/>
          <p:nvPr isPhoto="false"/>
        </p:nvSpPr>
        <p:spPr>
          <a:xfrm flipH="false" flipV="false" rot="0">
            <a:off x="4919472" y="2322576"/>
            <a:ext cx="3703319" cy="45720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00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Respetar las dosis recomendadas — más cantidad no significa más efecto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13" name="Shape 413"/>
          <p:cNvSpPr txBox="false"/>
          <p:nvPr isPhoto="false"/>
        </p:nvSpPr>
        <p:spPr>
          <a:xfrm flipH="false" flipV="false" rot="0">
            <a:off x="4754880" y="2916936"/>
            <a:ext cx="3931920" cy="566928"/>
          </a:xfrm>
          <a:prstGeom prst="rect">
            <a:avLst/>
          </a:prstGeom>
          <a:solidFill>
            <a:srgbClr val="F0FFF4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14" name="Shape 414"/>
          <p:cNvSpPr txBox="false"/>
          <p:nvPr isPhoto="false"/>
        </p:nvSpPr>
        <p:spPr>
          <a:xfrm flipH="false" flipV="false" rot="0">
            <a:off x="4754880" y="2916936"/>
            <a:ext cx="54864" cy="566928"/>
          </a:xfrm>
          <a:prstGeom prst="rect">
            <a:avLst/>
          </a:prstGeom>
          <a:solidFill>
            <a:srgbClr val="2D6A4F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15" name="Shape 415"/>
          <p:cNvSpPr txBox="false"/>
          <p:nvPr isPhoto="false"/>
        </p:nvSpPr>
        <p:spPr>
          <a:xfrm flipH="false" flipV="false" rot="0">
            <a:off x="4919472" y="2980944"/>
            <a:ext cx="3703319" cy="45720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00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Comprar en herboristerías o farmacias de confianza, con productos de origen controlado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16" name="Shape 416"/>
          <p:cNvSpPr txBox="false"/>
          <p:nvPr isPhoto="false"/>
        </p:nvSpPr>
        <p:spPr>
          <a:xfrm flipH="false" flipV="false" rot="0">
            <a:off x="4754880" y="3575303"/>
            <a:ext cx="3931920" cy="566927"/>
          </a:xfrm>
          <a:prstGeom prst="rect">
            <a:avLst/>
          </a:prstGeom>
          <a:solidFill>
            <a:srgbClr val="F0FFF4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17" name="Shape 417"/>
          <p:cNvSpPr txBox="false"/>
          <p:nvPr isPhoto="false"/>
        </p:nvSpPr>
        <p:spPr>
          <a:xfrm flipH="false" flipV="false" rot="0">
            <a:off x="4754880" y="3575303"/>
            <a:ext cx="54864" cy="566927"/>
          </a:xfrm>
          <a:prstGeom prst="rect">
            <a:avLst/>
          </a:prstGeom>
          <a:solidFill>
            <a:srgbClr val="2D6A4F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18" name="Shape 418"/>
          <p:cNvSpPr txBox="false"/>
          <p:nvPr isPhoto="false"/>
        </p:nvSpPr>
        <p:spPr>
          <a:xfrm flipH="false" flipV="false" rot="0">
            <a:off x="4919472" y="3639312"/>
            <a:ext cx="3703319" cy="45720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l" indent="0" marL="0"/>
            <a:r>
              <a:rPr sz="1000">
                <a:solidFill>
                  <a:srgbClr val="2C2C2C"/>
                </a:solidFill>
                <a:latin typeface="+mn-lt"/>
                <a:ea typeface="+mn-ea"/>
                <a:cs typeface="+mn-cs"/>
              </a:rPr>
              <a:t>Si los síntomas persisten más de 7 días, consultar con un profesional de la salud</a:t>
            </a:r>
            <a:endParaRPr sz="1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15.xml><?xml version="1.0" encoding="utf-8"?>
<p:sld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bg>
      <p:bgPr>
        <a:solidFill>
          <a:srgbClr val="1B4332"/>
        </a:solidFill>
      </p:bgPr>
    </p:bg>
    <p:spTree>
      <p:nvGrpSpPr>
        <p:cNvPr hidden="false" id="419" name="GroupShape 41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420" name="Shape 420"/>
          <p:cNvSpPr txBox="false"/>
          <p:nvPr isPhoto="false"/>
        </p:nvSpPr>
        <p:spPr>
          <a:xfrm flipH="false" flipV="false" rot="0">
            <a:off x="-914400" y="-914400"/>
            <a:ext cx="3657600" cy="3657600"/>
          </a:xfrm>
          <a:prstGeom prst="ellipse">
            <a:avLst/>
          </a:prstGeom>
          <a:solidFill>
            <a:srgbClr val="2D6A4F">
              <a:alpha val="40000"/>
            </a:srgbClr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21" name="Shape 421"/>
          <p:cNvSpPr txBox="false"/>
          <p:nvPr isPhoto="false"/>
        </p:nvSpPr>
        <p:spPr>
          <a:xfrm flipH="false" flipV="false" rot="0">
            <a:off x="6858000" y="3200400"/>
            <a:ext cx="2743200" cy="2743200"/>
          </a:xfrm>
          <a:prstGeom prst="ellipse">
            <a:avLst/>
          </a:prstGeom>
          <a:solidFill>
            <a:srgbClr val="2D6A4F">
              <a:alpha val="35000"/>
            </a:srgbClr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hidden="false" id="423" name="Picture 423"/>
          <p:cNvPicPr preferRelativeResize="true"/>
          <p:nvPr isPhoto="false"/>
        </p:nvPicPr>
        <p:blipFill>
          <a:blip r:embed="rId1"/>
          <a:stretch/>
        </p:blipFill>
        <p:spPr>
          <a:xfrm flipH="false" flipV="false" rot="0">
            <a:off x="3931920" y="457200"/>
            <a:ext cx="1280160" cy="1280160"/>
          </a:xfrm>
          <a:prstGeom prst="rect">
            <a:avLst/>
          </a:prstGeom>
        </p:spPr>
      </p:pic>
      <p:sp>
        <p:nvSpPr>
          <p:cNvPr hidden="false" id="424" name="Shape 424"/>
          <p:cNvSpPr txBox="false"/>
          <p:nvPr isPhoto="false"/>
        </p:nvSpPr>
        <p:spPr>
          <a:xfrm flipH="false" flipV="false" rot="0">
            <a:off x="731520" y="1371600"/>
            <a:ext cx="7680960" cy="68580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ctr" indent="0" marL="0"/>
            <a:r>
              <a:rPr b="true" sz="380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¡Muchas gracias!</a:t>
            </a:r>
            <a:endParaRPr sz="3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25" name="Shape 425"/>
          <p:cNvSpPr txBox="false"/>
          <p:nvPr isPhoto="false"/>
        </p:nvSpPr>
        <p:spPr>
          <a:xfrm flipH="false" flipV="false" rot="0">
            <a:off x="731520" y="2148840"/>
            <a:ext cx="7680960" cy="411480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ctr" indent="0" marL="0"/>
            <a:r>
              <a:rPr i="true" sz="1600">
                <a:solidFill>
                  <a:srgbClr val="B7DFCF"/>
                </a:solidFill>
                <a:latin typeface="+mn-lt"/>
                <a:ea typeface="+mn-ea"/>
                <a:cs typeface="+mn-cs"/>
              </a:rPr>
              <a:t>Espero que lo hayan disfrutado y que les sea muy útil</a:t>
            </a:r>
            <a:endParaRPr sz="16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26" name="Shape 426"/>
          <p:cNvSpPr txBox="false"/>
          <p:nvPr isPhoto="false"/>
        </p:nvSpPr>
        <p:spPr>
          <a:xfrm flipH="false" flipV="false" rot="0">
            <a:off x="3200400" y="2743200"/>
            <a:ext cx="2743200" cy="36576"/>
          </a:xfrm>
          <a:prstGeom prst="rect">
            <a:avLst/>
          </a:prstGeom>
          <a:solidFill>
            <a:srgbClr val="74B49B"/>
          </a:solidFill>
          <a:ln>
            <a:prstDash val="solid"/>
          </a:ln>
        </p:spPr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27" name="Shape 427"/>
          <p:cNvSpPr txBox="false"/>
          <p:nvPr isPhoto="false"/>
        </p:nvSpPr>
        <p:spPr>
          <a:xfrm flipH="false" flipV="false" rot="0">
            <a:off x="914400" y="3017520"/>
            <a:ext cx="7315200" cy="384047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ctr" indent="0" marL="0"/>
            <a:r>
              <a:rPr sz="1300">
                <a:solidFill>
                  <a:srgbClr val="B7DFCF"/>
                </a:solidFill>
                <a:latin typeface="+mn-lt"/>
                <a:ea typeface="+mn-ea"/>
                <a:cs typeface="+mn-cs"/>
              </a:rPr>
              <a:t>📩  Grabación + guía descargable + diapositivas → las reciben por mail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428" name="Shape 428"/>
          <p:cNvSpPr txBox="false"/>
          <p:nvPr isPhoto="false"/>
        </p:nvSpPr>
        <p:spPr>
          <a:xfrm flipH="false" flipV="false" rot="0">
            <a:off x="914400" y="3520440"/>
            <a:ext cx="7315200" cy="384047"/>
          </a:xfrm>
          <a:prstGeom prst="rect">
            <a:avLst/>
          </a:prstGeom>
          <a:noFill/>
          <a:ln>
            <a:prstDash val="solid"/>
          </a:ln>
        </p:spPr>
        <p:txBody>
          <a:bodyPr anchor="ctr" bIns="45720" lIns="91440" rIns="91440" tIns="45720" wrap="square"/>
          <a:p>
            <a:pPr algn="ctr" indent="0" marL="0"/>
            <a:r>
              <a:rPr sz="1300">
                <a:solidFill>
                  <a:srgbClr val="B7DFCF"/>
                </a:solidFill>
                <a:latin typeface="+mn-lt"/>
                <a:ea typeface="+mn-ea"/>
                <a:cs typeface="+mn-cs"/>
              </a:rPr>
              <a:t>❓  Preguntas: ¡con confianza!</a:t>
            </a:r>
            <a:endParaRPr sz="13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theme/theme1.xml><?xml version="1.0" encoding="utf-8"?>
<a:theme xmlns:a="http://schemas.openxmlformats.org/drawingml/2006/main" xmlns:a14="http://schemas.microsoft.com/office/drawing/2010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</a:gradFill>
      </a:bgFillStyleLst>
    </a:fmtScheme>
  </a:themeElements>
</a:theme>
</file>

<file path=docProps/app.xml><?xml version="1.0" encoding="utf-8"?>
<Properties xmlns="http://schemas.openxmlformats.org/officeDocument/2006/extended-properties">
  <Template>Normal.dotm</Template>
  <TotalTime>0</TotalTime>
  <DocSecurity>0</DocSecurity>
  <ScaleCrop>false</ScaleCrop>
  <Application>MyOffice-CoreFramework-Android/40-1423.1132.10486.1056.1@7875681add7d56c228e5331fe7c51cf7b4fd13ed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2026-05-08T20:40:46Z</dcterms:created>
  <dcterms:modified xsi:type="dcterms:W3CDTF">2026-05-09T12:42:53Z</dcterms:modified>
</cp:coreProperties>
</file>